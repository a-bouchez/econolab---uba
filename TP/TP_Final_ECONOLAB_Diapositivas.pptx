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916320b4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916320b4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913d7a86a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913d7a86a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916320b4a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916320b4a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16320b4a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916320b4a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913d7a86a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913d7a86a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13d7a86a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913d7a86a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916320b4a4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916320b4a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13d7a86a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913d7a86a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e207487d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e207487d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13d7a86a2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13d7a86a2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e207487d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e207487d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16320b4a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16320b4a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e28406e4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ae28406e4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13d7a86a2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913d7a86a2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913d7a86a2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913d7a86a2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13d7a86a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913d7a86a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13d7a86a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913d7a86a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916320b4a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916320b4a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913d7a86a2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913d7a86a2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913d7a86a2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913d7a86a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916320b4a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916320b4a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913d7a86a2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913d7a86a2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aebeb33dc1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aebeb33dc1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aebeb33dc1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aebeb33dc1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aebeb33dc1_1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aebeb33dc1_1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aebeb33dc1_1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aebeb33dc1_1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aebeb33dc1_1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aebeb33dc1_1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aebeb33dc1_1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aebeb33dc1_1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af1f34002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af1f34002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916320b4a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916320b4a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913d7a86a2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913d7a86a2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913d7a86a2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913d7a86a2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4.png"/><Relationship Id="rId5" Type="http://schemas.openxmlformats.org/officeDocument/2006/relationships/image" Target="../media/image19.png"/><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27.png"/><Relationship Id="rId5"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7.png"/><Relationship Id="rId4" Type="http://schemas.openxmlformats.org/officeDocument/2006/relationships/image" Target="../media/image33.png"/><Relationship Id="rId5" Type="http://schemas.openxmlformats.org/officeDocument/2006/relationships/image" Target="../media/image32.png"/><Relationship Id="rId6" Type="http://schemas.openxmlformats.org/officeDocument/2006/relationships/image" Target="../media/image36.png"/><Relationship Id="rId7"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26050" y="252075"/>
            <a:ext cx="8809800" cy="108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3000" u="sng">
                <a:solidFill>
                  <a:schemeClr val="dk2"/>
                </a:solidFill>
              </a:rPr>
              <a:t>TP Final ECONOLAB</a:t>
            </a:r>
            <a:endParaRPr b="1" sz="3000" u="sng">
              <a:solidFill>
                <a:schemeClr val="dk2"/>
              </a:solidFill>
            </a:endParaRPr>
          </a:p>
          <a:p>
            <a:pPr indent="0" lvl="0" marL="0" rtl="0" algn="l">
              <a:spcBef>
                <a:spcPts val="0"/>
              </a:spcBef>
              <a:spcAft>
                <a:spcPts val="0"/>
              </a:spcAft>
              <a:buNone/>
            </a:pPr>
            <a:r>
              <a:t/>
            </a:r>
            <a:endParaRPr b="1" sz="3000">
              <a:solidFill>
                <a:schemeClr val="dk2"/>
              </a:solidFill>
            </a:endParaRPr>
          </a:p>
          <a:p>
            <a:pPr indent="0" lvl="0" marL="0" rtl="0" algn="ctr">
              <a:spcBef>
                <a:spcPts val="0"/>
              </a:spcBef>
              <a:spcAft>
                <a:spcPts val="0"/>
              </a:spcAft>
              <a:buNone/>
            </a:pPr>
            <a:r>
              <a:rPr b="1" lang="es-419" sz="2600">
                <a:solidFill>
                  <a:schemeClr val="dk2"/>
                </a:solidFill>
              </a:rPr>
              <a:t>Conflict Inflation Model</a:t>
            </a:r>
            <a:endParaRPr b="1" sz="2600">
              <a:solidFill>
                <a:schemeClr val="dk2"/>
              </a:solidFill>
            </a:endParaRPr>
          </a:p>
        </p:txBody>
      </p:sp>
      <p:sp>
        <p:nvSpPr>
          <p:cNvPr id="55" name="Google Shape;55;p13"/>
          <p:cNvSpPr txBox="1"/>
          <p:nvPr/>
        </p:nvSpPr>
        <p:spPr>
          <a:xfrm>
            <a:off x="387875" y="1811675"/>
            <a:ext cx="7710000" cy="309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chemeClr val="dk2"/>
                </a:solidFill>
              </a:rPr>
              <a:t>Integrantes: </a:t>
            </a:r>
            <a:endParaRPr sz="1800">
              <a:solidFill>
                <a:schemeClr val="dk2"/>
              </a:solidFill>
            </a:endParaRPr>
          </a:p>
          <a:p>
            <a:pPr indent="-342900" lvl="0" marL="457200" rtl="0" algn="l">
              <a:spcBef>
                <a:spcPts val="0"/>
              </a:spcBef>
              <a:spcAft>
                <a:spcPts val="0"/>
              </a:spcAft>
              <a:buClr>
                <a:schemeClr val="dk2"/>
              </a:buClr>
              <a:buSzPts val="1800"/>
              <a:buChar char="●"/>
            </a:pPr>
            <a:r>
              <a:rPr lang="es-419" sz="1800">
                <a:solidFill>
                  <a:schemeClr val="dk2"/>
                </a:solidFill>
              </a:rPr>
              <a:t>Guido Cardozo LU: 240/23</a:t>
            </a:r>
            <a:endParaRPr sz="1800">
              <a:solidFill>
                <a:schemeClr val="dk2"/>
              </a:solidFill>
            </a:endParaRPr>
          </a:p>
          <a:p>
            <a:pPr indent="-342900" lvl="0" marL="457200" rtl="0" algn="l">
              <a:spcBef>
                <a:spcPts val="0"/>
              </a:spcBef>
              <a:spcAft>
                <a:spcPts val="0"/>
              </a:spcAft>
              <a:buClr>
                <a:schemeClr val="dk2"/>
              </a:buClr>
              <a:buSzPts val="1800"/>
              <a:buChar char="●"/>
            </a:pPr>
            <a:r>
              <a:rPr lang="es-419" sz="1800">
                <a:solidFill>
                  <a:schemeClr val="dk2"/>
                </a:solidFill>
              </a:rPr>
              <a:t>Manuel Drescher LU: 652/22</a:t>
            </a:r>
            <a:endParaRPr sz="1800">
              <a:solidFill>
                <a:schemeClr val="dk2"/>
              </a:solidFill>
            </a:endParaRPr>
          </a:p>
          <a:p>
            <a:pPr indent="-342900" lvl="0" marL="457200" rtl="0" algn="l">
              <a:spcBef>
                <a:spcPts val="0"/>
              </a:spcBef>
              <a:spcAft>
                <a:spcPts val="0"/>
              </a:spcAft>
              <a:buClr>
                <a:schemeClr val="dk2"/>
              </a:buClr>
              <a:buSzPts val="1800"/>
              <a:buChar char="●"/>
            </a:pPr>
            <a:r>
              <a:rPr lang="es-419" sz="1800">
                <a:solidFill>
                  <a:schemeClr val="dk2"/>
                </a:solidFill>
              </a:rPr>
              <a:t>Alexis Starcenbaum Bouchez LU: 795/22</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419" sz="1800">
                <a:solidFill>
                  <a:schemeClr val="dk2"/>
                </a:solidFill>
              </a:rPr>
              <a:t>Referencias:</a:t>
            </a:r>
            <a:endParaRPr sz="1800">
              <a:solidFill>
                <a:schemeClr val="dk2"/>
              </a:solidFill>
            </a:endParaRPr>
          </a:p>
          <a:p>
            <a:pPr indent="-342900" lvl="0" marL="457200" rtl="0" algn="l">
              <a:spcBef>
                <a:spcPts val="0"/>
              </a:spcBef>
              <a:spcAft>
                <a:spcPts val="0"/>
              </a:spcAft>
              <a:buClr>
                <a:schemeClr val="dk2"/>
              </a:buClr>
              <a:buSzPts val="1800"/>
              <a:buChar char="●"/>
            </a:pPr>
            <a:r>
              <a:rPr lang="es-419" sz="1800">
                <a:solidFill>
                  <a:schemeClr val="dk1"/>
                </a:solidFill>
              </a:rPr>
              <a:t>Rowthorn, R. E. 1977. “Conflict, inflation and money.” </a:t>
            </a:r>
            <a:r>
              <a:rPr i="1" lang="es-419" sz="1800">
                <a:solidFill>
                  <a:schemeClr val="dk1"/>
                </a:solidFill>
              </a:rPr>
              <a:t>Cambridge Journal of Economics</a:t>
            </a:r>
            <a:r>
              <a:rPr lang="es-419" sz="1800">
                <a:solidFill>
                  <a:schemeClr val="dk1"/>
                </a:solidFill>
              </a:rPr>
              <a:t> 1</a:t>
            </a:r>
            <a:endParaRPr sz="1800">
              <a:solidFill>
                <a:schemeClr val="dk1"/>
              </a:solidFill>
            </a:endParaRPr>
          </a:p>
          <a:p>
            <a:pPr indent="-342900" lvl="0" marL="457200" rtl="0" algn="l">
              <a:spcBef>
                <a:spcPts val="0"/>
              </a:spcBef>
              <a:spcAft>
                <a:spcPts val="0"/>
              </a:spcAft>
              <a:buClr>
                <a:schemeClr val="dk1"/>
              </a:buClr>
              <a:buSzPts val="1800"/>
              <a:buChar char="●"/>
            </a:pPr>
            <a:r>
              <a:rPr lang="es-419" sz="1800">
                <a:solidFill>
                  <a:schemeClr val="dk1"/>
                </a:solidFill>
              </a:rPr>
              <a:t>Wildauer, Rafael, Karsten Kohler, Adam Aboobaker, and Alexander Guschanski. 2023. “Energy price shocks, conflict inflation, and income distribution in a three-sector model.” </a:t>
            </a:r>
            <a:r>
              <a:rPr i="1" lang="es-419" sz="1800">
                <a:solidFill>
                  <a:schemeClr val="dk1"/>
                </a:solidFill>
              </a:rPr>
              <a:t>Energy Economics</a:t>
            </a:r>
            <a:r>
              <a:rPr lang="es-419" sz="1800">
                <a:solidFill>
                  <a:schemeClr val="dk1"/>
                </a:solidFill>
              </a:rPr>
              <a:t> 127B</a:t>
            </a:r>
            <a:endParaRPr sz="2500">
              <a:solidFill>
                <a:schemeClr val="dk1"/>
              </a:solidFill>
            </a:endParaRPr>
          </a:p>
          <a:p>
            <a:pPr indent="0" lvl="0" marL="457200" rtl="0" algn="l">
              <a:spcBef>
                <a:spcPts val="0"/>
              </a:spcBef>
              <a:spcAft>
                <a:spcPts val="0"/>
              </a:spcAft>
              <a:buNone/>
            </a:pPr>
            <a:r>
              <a:t/>
            </a:r>
            <a:endParaRPr sz="1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48500" y="401925"/>
            <a:ext cx="6137400" cy="4572000"/>
          </a:xfrm>
          <a:prstGeom prst="rect">
            <a:avLst/>
          </a:prstGeom>
          <a:noFill/>
          <a:ln>
            <a:noFill/>
          </a:ln>
        </p:spPr>
        <p:txBody>
          <a:bodyPr anchorCtr="0" anchor="t" bIns="45700" lIns="91425" spcFirstLastPara="1" rIns="91425" wrap="square" tIns="45700">
            <a:normAutofit/>
          </a:bodyPr>
          <a:lstStyle/>
          <a:p>
            <a:pPr indent="-209550" lvl="0" marL="228600" rtl="0" algn="l">
              <a:lnSpc>
                <a:spcPct val="80000"/>
              </a:lnSpc>
              <a:spcBef>
                <a:spcPts val="0"/>
              </a:spcBef>
              <a:spcAft>
                <a:spcPts val="0"/>
              </a:spcAft>
              <a:buClr>
                <a:schemeClr val="dk1"/>
              </a:buClr>
              <a:buSzPts val="2600"/>
              <a:buFont typeface="Noto Sans Symbols"/>
              <a:buChar char="▪"/>
            </a:pPr>
            <a:r>
              <a:rPr lang="es-419" sz="2600">
                <a:solidFill>
                  <a:schemeClr val="dk1"/>
                </a:solidFill>
                <a:latin typeface="Calibri"/>
                <a:ea typeface="Calibri"/>
                <a:cs typeface="Calibri"/>
                <a:sym typeface="Calibri"/>
              </a:rPr>
              <a:t>Introducción</a:t>
            </a:r>
            <a:endParaRPr sz="2600">
              <a:solidFill>
                <a:schemeClr val="dk1"/>
              </a:solidFill>
              <a:latin typeface="Calibri"/>
              <a:ea typeface="Calibri"/>
              <a:cs typeface="Calibri"/>
              <a:sym typeface="Calibri"/>
            </a:endParaRPr>
          </a:p>
          <a:p>
            <a:pPr indent="-279400" lvl="1" marL="685800" rtl="0" algn="l">
              <a:lnSpc>
                <a:spcPct val="80000"/>
              </a:lnSpc>
              <a:spcBef>
                <a:spcPts val="0"/>
              </a:spcBef>
              <a:spcAft>
                <a:spcPts val="0"/>
              </a:spcAft>
              <a:buClr>
                <a:schemeClr val="dk1"/>
              </a:buClr>
              <a:buSzPts val="2600"/>
              <a:buFont typeface="Noto Sans Symbols"/>
              <a:buChar char="•"/>
            </a:pPr>
            <a:r>
              <a:rPr lang="es-419" sz="2600">
                <a:solidFill>
                  <a:schemeClr val="dk1"/>
                </a:solidFill>
                <a:latin typeface="Calibri"/>
                <a:ea typeface="Calibri"/>
                <a:cs typeface="Calibri"/>
                <a:sym typeface="Calibri"/>
              </a:rPr>
              <a:t>Explicación</a:t>
            </a:r>
            <a:r>
              <a:rPr lang="es-419" sz="2600">
                <a:solidFill>
                  <a:schemeClr val="dk1"/>
                </a:solidFill>
                <a:latin typeface="Calibri"/>
                <a:ea typeface="Calibri"/>
                <a:cs typeface="Calibri"/>
                <a:sym typeface="Calibri"/>
              </a:rPr>
              <a:t> del paper</a:t>
            </a:r>
            <a:endParaRPr sz="2600">
              <a:solidFill>
                <a:schemeClr val="dk1"/>
              </a:solidFill>
              <a:latin typeface="Calibri"/>
              <a:ea typeface="Calibri"/>
              <a:cs typeface="Calibri"/>
              <a:sym typeface="Calibri"/>
            </a:endParaRPr>
          </a:p>
          <a:p>
            <a:pPr indent="-279400" lvl="1" marL="685800" rtl="0" algn="l">
              <a:lnSpc>
                <a:spcPct val="80000"/>
              </a:lnSpc>
              <a:spcBef>
                <a:spcPts val="0"/>
              </a:spcBef>
              <a:spcAft>
                <a:spcPts val="0"/>
              </a:spcAft>
              <a:buClr>
                <a:schemeClr val="dk1"/>
              </a:buClr>
              <a:buSzPts val="2600"/>
              <a:buFont typeface="Noto Sans Symbols"/>
              <a:buChar char="•"/>
            </a:pPr>
            <a:r>
              <a:rPr lang="es-419" sz="2600">
                <a:solidFill>
                  <a:schemeClr val="dk1"/>
                </a:solidFill>
                <a:latin typeface="Calibri"/>
                <a:ea typeface="Calibri"/>
                <a:cs typeface="Calibri"/>
                <a:sym typeface="Calibri"/>
              </a:rPr>
              <a:t>Objetivos</a:t>
            </a:r>
            <a:endParaRPr sz="2600">
              <a:solidFill>
                <a:schemeClr val="dk1"/>
              </a:solidFill>
              <a:latin typeface="Calibri"/>
              <a:ea typeface="Calibri"/>
              <a:cs typeface="Calibri"/>
              <a:sym typeface="Calibri"/>
            </a:endParaRPr>
          </a:p>
          <a:p>
            <a:pPr indent="-254000" lvl="1" marL="685800" rtl="0" algn="l">
              <a:lnSpc>
                <a:spcPct val="80000"/>
              </a:lnSpc>
              <a:spcBef>
                <a:spcPts val="500"/>
              </a:spcBef>
              <a:spcAft>
                <a:spcPts val="0"/>
              </a:spcAft>
              <a:buClr>
                <a:schemeClr val="dk1"/>
              </a:buClr>
              <a:buSzPts val="2200"/>
              <a:buFont typeface="Calibri"/>
              <a:buChar char="•"/>
            </a:pPr>
            <a:r>
              <a:rPr lang="es-419" sz="2600">
                <a:solidFill>
                  <a:schemeClr val="dk1"/>
                </a:solidFill>
                <a:latin typeface="Calibri"/>
                <a:ea typeface="Calibri"/>
                <a:cs typeface="Calibri"/>
                <a:sym typeface="Calibri"/>
              </a:rPr>
              <a:t>Pasaje del modelo a modelica</a:t>
            </a:r>
            <a:endParaRPr sz="2600">
              <a:solidFill>
                <a:srgbClr val="AEABAB"/>
              </a:solidFill>
              <a:latin typeface="Calibri"/>
              <a:ea typeface="Calibri"/>
              <a:cs typeface="Calibri"/>
              <a:sym typeface="Calibri"/>
            </a:endParaRPr>
          </a:p>
          <a:p>
            <a:pPr indent="-279400" lvl="0" marL="228600" rtl="0" algn="l">
              <a:lnSpc>
                <a:spcPct val="80000"/>
              </a:lnSpc>
              <a:spcBef>
                <a:spcPts val="1000"/>
              </a:spcBef>
              <a:spcAft>
                <a:spcPts val="0"/>
              </a:spcAft>
              <a:buClr>
                <a:srgbClr val="000000"/>
              </a:buClr>
              <a:buSzPts val="2600"/>
              <a:buChar char="▪"/>
            </a:pPr>
            <a:r>
              <a:rPr lang="es-419" sz="2600">
                <a:latin typeface="Calibri"/>
                <a:ea typeface="Calibri"/>
                <a:cs typeface="Calibri"/>
                <a:sym typeface="Calibri"/>
              </a:rPr>
              <a:t>Aporte Principal y Desarrollo</a:t>
            </a:r>
            <a:endParaRPr sz="2600">
              <a:solidFill>
                <a:srgbClr val="000000"/>
              </a:solidFill>
              <a:latin typeface="Calibri"/>
              <a:ea typeface="Calibri"/>
              <a:cs typeface="Calibri"/>
              <a:sym typeface="Calibri"/>
            </a:endParaRPr>
          </a:p>
          <a:p>
            <a:pPr indent="-279400" lvl="1" marL="685800" rtl="0" algn="l">
              <a:lnSpc>
                <a:spcPct val="80000"/>
              </a:lnSpc>
              <a:spcBef>
                <a:spcPts val="500"/>
              </a:spcBef>
              <a:spcAft>
                <a:spcPts val="0"/>
              </a:spcAft>
              <a:buClr>
                <a:srgbClr val="000000"/>
              </a:buClr>
              <a:buSzPts val="2600"/>
              <a:buChar char="•"/>
            </a:pPr>
            <a:r>
              <a:rPr lang="es-419" sz="2600">
                <a:latin typeface="Calibri"/>
                <a:ea typeface="Calibri"/>
                <a:cs typeface="Calibri"/>
                <a:sym typeface="Calibri"/>
              </a:rPr>
              <a:t>Extensión</a:t>
            </a:r>
            <a:r>
              <a:rPr lang="es-419" sz="2600">
                <a:latin typeface="Calibri"/>
                <a:ea typeface="Calibri"/>
                <a:cs typeface="Calibri"/>
                <a:sym typeface="Calibri"/>
              </a:rPr>
              <a:t> a un 3er Sector </a:t>
            </a:r>
            <a:endParaRPr sz="2600">
              <a:latin typeface="Calibri"/>
              <a:ea typeface="Calibri"/>
              <a:cs typeface="Calibri"/>
              <a:sym typeface="Calibri"/>
            </a:endParaRPr>
          </a:p>
          <a:p>
            <a:pPr indent="-279400" lvl="1" marL="685800" rtl="0" algn="l">
              <a:lnSpc>
                <a:spcPct val="80000"/>
              </a:lnSpc>
              <a:spcBef>
                <a:spcPts val="500"/>
              </a:spcBef>
              <a:spcAft>
                <a:spcPts val="0"/>
              </a:spcAft>
              <a:buClr>
                <a:srgbClr val="000000"/>
              </a:buClr>
              <a:buSzPts val="2600"/>
              <a:buChar char="•"/>
            </a:pPr>
            <a:r>
              <a:rPr lang="es-419" sz="2600">
                <a:latin typeface="Calibri"/>
                <a:ea typeface="Calibri"/>
                <a:cs typeface="Calibri"/>
                <a:sym typeface="Calibri"/>
              </a:rPr>
              <a:t>Extension a n Sectores</a:t>
            </a:r>
            <a:endParaRPr sz="2600">
              <a:solidFill>
                <a:srgbClr val="000000"/>
              </a:solidFill>
              <a:latin typeface="Calibri"/>
              <a:ea typeface="Calibri"/>
              <a:cs typeface="Calibri"/>
              <a:sym typeface="Calibri"/>
            </a:endParaRPr>
          </a:p>
          <a:p>
            <a:pPr indent="-279400" lvl="1" marL="685800" rtl="0" algn="l">
              <a:lnSpc>
                <a:spcPct val="80000"/>
              </a:lnSpc>
              <a:spcBef>
                <a:spcPts val="0"/>
              </a:spcBef>
              <a:spcAft>
                <a:spcPts val="0"/>
              </a:spcAft>
              <a:buClr>
                <a:srgbClr val="000000"/>
              </a:buClr>
              <a:buSzPts val="2600"/>
              <a:buChar char="•"/>
            </a:pPr>
            <a:r>
              <a:rPr lang="es-419" sz="2600">
                <a:latin typeface="Calibri"/>
                <a:ea typeface="Calibri"/>
                <a:cs typeface="Calibri"/>
                <a:sym typeface="Calibri"/>
              </a:rPr>
              <a:t>OMSense</a:t>
            </a:r>
            <a:endParaRPr sz="2600">
              <a:solidFill>
                <a:srgbClr val="000000"/>
              </a:solidFill>
              <a:latin typeface="Calibri"/>
              <a:ea typeface="Calibri"/>
              <a:cs typeface="Calibri"/>
              <a:sym typeface="Calibri"/>
            </a:endParaRPr>
          </a:p>
          <a:p>
            <a:pPr indent="-279400" lvl="0" marL="228600" rtl="0" algn="l">
              <a:lnSpc>
                <a:spcPct val="80000"/>
              </a:lnSpc>
              <a:spcBef>
                <a:spcPts val="1000"/>
              </a:spcBef>
              <a:spcAft>
                <a:spcPts val="0"/>
              </a:spcAft>
              <a:buClr>
                <a:srgbClr val="000000"/>
              </a:buClr>
              <a:buSzPts val="2600"/>
              <a:buFont typeface="Noto Sans Symbols"/>
              <a:buChar char="▪"/>
            </a:pPr>
            <a:r>
              <a:rPr lang="es-419" sz="2600">
                <a:solidFill>
                  <a:srgbClr val="000000"/>
                </a:solidFill>
                <a:latin typeface="Calibri"/>
                <a:ea typeface="Calibri"/>
                <a:cs typeface="Calibri"/>
                <a:sym typeface="Calibri"/>
              </a:rPr>
              <a:t>Conclusion</a:t>
            </a:r>
            <a:r>
              <a:rPr lang="es-419" sz="2600">
                <a:latin typeface="Calibri"/>
                <a:ea typeface="Calibri"/>
                <a:cs typeface="Calibri"/>
                <a:sym typeface="Calibri"/>
              </a:rPr>
              <a:t>es y </a:t>
            </a:r>
            <a:r>
              <a:rPr lang="es-419" sz="2600">
                <a:latin typeface="Calibri"/>
                <a:ea typeface="Calibri"/>
                <a:cs typeface="Calibri"/>
                <a:sym typeface="Calibri"/>
              </a:rPr>
              <a:t>próximos</a:t>
            </a:r>
            <a:r>
              <a:rPr lang="es-419" sz="2600">
                <a:latin typeface="Calibri"/>
                <a:ea typeface="Calibri"/>
                <a:cs typeface="Calibri"/>
                <a:sym typeface="Calibri"/>
              </a:rPr>
              <a:t> pasos sugeridos</a:t>
            </a:r>
            <a:endParaRPr sz="2600">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Motivación</a:t>
            </a:r>
            <a:endParaRPr/>
          </a:p>
        </p:txBody>
      </p:sp>
      <p:sp>
        <p:nvSpPr>
          <p:cNvPr id="66" name="Google Shape;66;p15"/>
          <p:cNvSpPr txBox="1"/>
          <p:nvPr>
            <p:ph idx="1" type="body"/>
          </p:nvPr>
        </p:nvSpPr>
        <p:spPr>
          <a:xfrm>
            <a:off x="311700" y="1017725"/>
            <a:ext cx="5900700" cy="2754000"/>
          </a:xfrm>
          <a:prstGeom prst="rect">
            <a:avLst/>
          </a:prstGeom>
        </p:spPr>
        <p:txBody>
          <a:bodyPr anchorCtr="0" anchor="t" bIns="91425" lIns="91425" spcFirstLastPara="1" rIns="91425" wrap="square" tIns="91425">
            <a:normAutofit fontScale="55000" lnSpcReduction="20000"/>
          </a:bodyPr>
          <a:lstStyle/>
          <a:p>
            <a:pPr indent="-342106" lvl="0" marL="457200" rtl="0" algn="l">
              <a:spcBef>
                <a:spcPts val="0"/>
              </a:spcBef>
              <a:spcAft>
                <a:spcPts val="0"/>
              </a:spcAft>
              <a:buSzPct val="100000"/>
              <a:buChar char="●"/>
            </a:pPr>
            <a:r>
              <a:rPr lang="es-419" sz="3250"/>
              <a:t>El paper habla sobre los efectos que generan en el sector manufacturero </a:t>
            </a:r>
            <a:r>
              <a:rPr lang="es-419" sz="3250"/>
              <a:t>súbitos</a:t>
            </a:r>
            <a:r>
              <a:rPr lang="es-419" sz="3250"/>
              <a:t> aumentos en el precio de la </a:t>
            </a:r>
            <a:r>
              <a:rPr lang="es-419" sz="3250"/>
              <a:t>energía</a:t>
            </a:r>
            <a:r>
              <a:rPr lang="es-419" sz="3250"/>
              <a:t> y otros eventos que afectan al nivel de precios y salarios</a:t>
            </a:r>
            <a:endParaRPr sz="3250"/>
          </a:p>
          <a:p>
            <a:pPr indent="-342106" lvl="0" marL="457200" rtl="0" algn="l">
              <a:spcBef>
                <a:spcPts val="0"/>
              </a:spcBef>
              <a:spcAft>
                <a:spcPts val="0"/>
              </a:spcAft>
              <a:buSzPct val="100000"/>
              <a:buChar char="●"/>
            </a:pPr>
            <a:r>
              <a:rPr lang="es-419" sz="3250"/>
              <a:t>En el paper se trabaja sobre un modelo de dos sectores, el sector </a:t>
            </a:r>
            <a:r>
              <a:rPr lang="es-419" sz="3250"/>
              <a:t>energético</a:t>
            </a:r>
            <a:r>
              <a:rPr lang="es-419" sz="3250"/>
              <a:t> y el sector manufacturero </a:t>
            </a:r>
            <a:endParaRPr sz="3250"/>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pic>
        <p:nvPicPr>
          <p:cNvPr descr="Ilustración de diseño de imágenes prediseñadas de barril de petróleo  9342723 PNG" id="67" name="Google Shape;67;p15"/>
          <p:cNvPicPr preferRelativeResize="0"/>
          <p:nvPr/>
        </p:nvPicPr>
        <p:blipFill>
          <a:blip r:embed="rId3">
            <a:alphaModFix/>
          </a:blip>
          <a:stretch>
            <a:fillRect/>
          </a:stretch>
        </p:blipFill>
        <p:spPr>
          <a:xfrm>
            <a:off x="6909150" y="2124750"/>
            <a:ext cx="1607825" cy="2753974"/>
          </a:xfrm>
          <a:prstGeom prst="rect">
            <a:avLst/>
          </a:prstGeom>
          <a:noFill/>
          <a:ln>
            <a:noFill/>
          </a:ln>
        </p:spPr>
      </p:pic>
      <p:sp>
        <p:nvSpPr>
          <p:cNvPr id="68" name="Google Shape;68;p15"/>
          <p:cNvSpPr txBox="1"/>
          <p:nvPr/>
        </p:nvSpPr>
        <p:spPr>
          <a:xfrm>
            <a:off x="311700" y="2933850"/>
            <a:ext cx="5957700" cy="16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dk2"/>
                </a:solidFill>
              </a:rPr>
              <a:t>Nuestros objetivos:</a:t>
            </a:r>
            <a:endParaRPr b="1" sz="1800">
              <a:solidFill>
                <a:schemeClr val="dk2"/>
              </a:solidFill>
            </a:endParaRPr>
          </a:p>
          <a:p>
            <a:pPr indent="-342900" lvl="0" marL="457200" rtl="0" algn="l">
              <a:spcBef>
                <a:spcPts val="0"/>
              </a:spcBef>
              <a:spcAft>
                <a:spcPts val="0"/>
              </a:spcAft>
              <a:buClr>
                <a:schemeClr val="dk2"/>
              </a:buClr>
              <a:buSzPts val="1800"/>
              <a:buChar char="●"/>
            </a:pPr>
            <a:r>
              <a:rPr lang="es-419" sz="1800">
                <a:solidFill>
                  <a:schemeClr val="dk2"/>
                </a:solidFill>
              </a:rPr>
              <a:t>Expandir el modelo para un tercer sector y luego hacer una manera </a:t>
            </a:r>
            <a:r>
              <a:rPr lang="es-419" sz="1800">
                <a:solidFill>
                  <a:schemeClr val="dk2"/>
                </a:solidFill>
              </a:rPr>
              <a:t>fácil</a:t>
            </a:r>
            <a:r>
              <a:rPr lang="es-419" sz="1800">
                <a:solidFill>
                  <a:schemeClr val="dk2"/>
                </a:solidFill>
              </a:rPr>
              <a:t> para extender el modelo a </a:t>
            </a:r>
            <a:r>
              <a:rPr lang="es-419" sz="1800">
                <a:solidFill>
                  <a:schemeClr val="dk2"/>
                </a:solidFill>
              </a:rPr>
              <a:t>más</a:t>
            </a:r>
            <a:r>
              <a:rPr lang="es-419" sz="1800">
                <a:solidFill>
                  <a:schemeClr val="dk2"/>
                </a:solidFill>
              </a:rPr>
              <a:t> sectores</a:t>
            </a:r>
            <a:endParaRPr sz="1800">
              <a:solidFill>
                <a:schemeClr val="dk2"/>
              </a:solidFill>
            </a:endParaRPr>
          </a:p>
          <a:p>
            <a:pPr indent="-342900" lvl="0" marL="457200" rtl="0" algn="l">
              <a:spcBef>
                <a:spcPts val="0"/>
              </a:spcBef>
              <a:spcAft>
                <a:spcPts val="0"/>
              </a:spcAft>
              <a:buClr>
                <a:schemeClr val="dk2"/>
              </a:buClr>
              <a:buSzPts val="1800"/>
              <a:buChar char="●"/>
            </a:pPr>
            <a:r>
              <a:rPr lang="es-419" sz="1800">
                <a:solidFill>
                  <a:schemeClr val="dk2"/>
                </a:solidFill>
              </a:rPr>
              <a:t>Evaluar diferentes valores de </a:t>
            </a:r>
            <a:r>
              <a:rPr lang="es-419" sz="1800">
                <a:solidFill>
                  <a:schemeClr val="dk2"/>
                </a:solidFill>
              </a:rPr>
              <a:t>parámetros</a:t>
            </a:r>
            <a:r>
              <a:rPr lang="es-419" sz="1800">
                <a:solidFill>
                  <a:schemeClr val="dk2"/>
                </a:solidFill>
              </a:rPr>
              <a:t> para ver </a:t>
            </a:r>
            <a:r>
              <a:rPr lang="es-419" sz="1800">
                <a:solidFill>
                  <a:schemeClr val="dk2"/>
                </a:solidFill>
              </a:rPr>
              <a:t>cómo</a:t>
            </a:r>
            <a:r>
              <a:rPr lang="es-419" sz="1800">
                <a:solidFill>
                  <a:schemeClr val="dk2"/>
                </a:solidFill>
              </a:rPr>
              <a:t> </a:t>
            </a:r>
            <a:r>
              <a:rPr lang="es-419" sz="1800">
                <a:solidFill>
                  <a:schemeClr val="dk2"/>
                </a:solidFill>
              </a:rPr>
              <a:t>varía</a:t>
            </a:r>
            <a:r>
              <a:rPr lang="es-419" sz="1800">
                <a:solidFill>
                  <a:schemeClr val="dk2"/>
                </a:solidFill>
              </a:rPr>
              <a:t> el modelo</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nvSpPr>
        <p:spPr>
          <a:xfrm>
            <a:off x="59050" y="496975"/>
            <a:ext cx="6137400" cy="4572000"/>
          </a:xfrm>
          <a:prstGeom prst="rect">
            <a:avLst/>
          </a:prstGeom>
          <a:noFill/>
          <a:ln>
            <a:noFill/>
          </a:ln>
        </p:spPr>
        <p:txBody>
          <a:bodyPr anchorCtr="0" anchor="t" bIns="45700" lIns="91425" spcFirstLastPara="1" rIns="91425" wrap="square" tIns="45700">
            <a:normAutofit/>
          </a:bodyPr>
          <a:lstStyle/>
          <a:p>
            <a:pPr indent="-209550" lvl="0" marL="228600" rtl="0" algn="l">
              <a:lnSpc>
                <a:spcPct val="80000"/>
              </a:lnSpc>
              <a:spcBef>
                <a:spcPts val="0"/>
              </a:spcBef>
              <a:spcAft>
                <a:spcPts val="0"/>
              </a:spcAft>
              <a:buClr>
                <a:schemeClr val="dk1"/>
              </a:buClr>
              <a:buSzPts val="2600"/>
              <a:buFont typeface="Noto Sans Symbols"/>
              <a:buChar char="▪"/>
            </a:pPr>
            <a:r>
              <a:rPr lang="es-419" sz="2600">
                <a:solidFill>
                  <a:schemeClr val="dk1"/>
                </a:solidFill>
                <a:latin typeface="Calibri"/>
                <a:ea typeface="Calibri"/>
                <a:cs typeface="Calibri"/>
                <a:sym typeface="Calibri"/>
              </a:rPr>
              <a:t>Introducción</a:t>
            </a:r>
            <a:endParaRPr sz="2600">
              <a:solidFill>
                <a:schemeClr val="dk1"/>
              </a:solidFill>
              <a:latin typeface="Calibri"/>
              <a:ea typeface="Calibri"/>
              <a:cs typeface="Calibri"/>
              <a:sym typeface="Calibri"/>
            </a:endParaRPr>
          </a:p>
          <a:p>
            <a:pPr indent="-279400" lvl="1" marL="685800" rtl="0" algn="l">
              <a:lnSpc>
                <a:spcPct val="80000"/>
              </a:lnSpc>
              <a:spcBef>
                <a:spcPts val="0"/>
              </a:spcBef>
              <a:spcAft>
                <a:spcPts val="0"/>
              </a:spcAft>
              <a:buClr>
                <a:srgbClr val="B7B7B7"/>
              </a:buClr>
              <a:buSzPts val="2600"/>
              <a:buFont typeface="Noto Sans Symbols"/>
              <a:buChar char="•"/>
            </a:pPr>
            <a:r>
              <a:rPr lang="es-419" sz="2600">
                <a:solidFill>
                  <a:srgbClr val="B7B7B7"/>
                </a:solidFill>
                <a:latin typeface="Calibri"/>
                <a:ea typeface="Calibri"/>
                <a:cs typeface="Calibri"/>
                <a:sym typeface="Calibri"/>
              </a:rPr>
              <a:t>Explicación del paper</a:t>
            </a:r>
            <a:endParaRPr sz="2600">
              <a:solidFill>
                <a:srgbClr val="B7B7B7"/>
              </a:solidFill>
              <a:latin typeface="Calibri"/>
              <a:ea typeface="Calibri"/>
              <a:cs typeface="Calibri"/>
              <a:sym typeface="Calibri"/>
            </a:endParaRPr>
          </a:p>
          <a:p>
            <a:pPr indent="-279400" lvl="1" marL="685800" rtl="0" algn="l">
              <a:lnSpc>
                <a:spcPct val="80000"/>
              </a:lnSpc>
              <a:spcBef>
                <a:spcPts val="0"/>
              </a:spcBef>
              <a:spcAft>
                <a:spcPts val="0"/>
              </a:spcAft>
              <a:buClr>
                <a:srgbClr val="B7B7B7"/>
              </a:buClr>
              <a:buSzPts val="2600"/>
              <a:buFont typeface="Noto Sans Symbols"/>
              <a:buChar char="•"/>
            </a:pPr>
            <a:r>
              <a:rPr lang="es-419" sz="2600">
                <a:solidFill>
                  <a:srgbClr val="B7B7B7"/>
                </a:solidFill>
                <a:latin typeface="Calibri"/>
                <a:ea typeface="Calibri"/>
                <a:cs typeface="Calibri"/>
                <a:sym typeface="Calibri"/>
              </a:rPr>
              <a:t>Objetivos</a:t>
            </a:r>
            <a:endParaRPr sz="2600">
              <a:solidFill>
                <a:srgbClr val="B7B7B7"/>
              </a:solidFill>
              <a:latin typeface="Calibri"/>
              <a:ea typeface="Calibri"/>
              <a:cs typeface="Calibri"/>
              <a:sym typeface="Calibri"/>
            </a:endParaRPr>
          </a:p>
          <a:p>
            <a:pPr indent="-254000" lvl="1" marL="685800" rtl="0" algn="l">
              <a:lnSpc>
                <a:spcPct val="80000"/>
              </a:lnSpc>
              <a:spcBef>
                <a:spcPts val="500"/>
              </a:spcBef>
              <a:spcAft>
                <a:spcPts val="0"/>
              </a:spcAft>
              <a:buClr>
                <a:schemeClr val="dk1"/>
              </a:buClr>
              <a:buSzPts val="2200"/>
              <a:buFont typeface="Calibri"/>
              <a:buChar char="•"/>
            </a:pPr>
            <a:r>
              <a:rPr lang="es-419" sz="2600">
                <a:solidFill>
                  <a:schemeClr val="dk1"/>
                </a:solidFill>
                <a:latin typeface="Calibri"/>
                <a:ea typeface="Calibri"/>
                <a:cs typeface="Calibri"/>
                <a:sym typeface="Calibri"/>
              </a:rPr>
              <a:t>Pasaje del modelo a modelica</a:t>
            </a:r>
            <a:endParaRPr sz="2600">
              <a:solidFill>
                <a:srgbClr val="AEABAB"/>
              </a:solidFill>
              <a:latin typeface="Calibri"/>
              <a:ea typeface="Calibri"/>
              <a:cs typeface="Calibri"/>
              <a:sym typeface="Calibri"/>
            </a:endParaRPr>
          </a:p>
          <a:p>
            <a:pPr indent="-279400" lvl="0" marL="228600" rtl="0" algn="l">
              <a:lnSpc>
                <a:spcPct val="80000"/>
              </a:lnSpc>
              <a:spcBef>
                <a:spcPts val="1000"/>
              </a:spcBef>
              <a:spcAft>
                <a:spcPts val="0"/>
              </a:spcAft>
              <a:buClr>
                <a:srgbClr val="000000"/>
              </a:buClr>
              <a:buSzPts val="2600"/>
              <a:buChar char="▪"/>
            </a:pPr>
            <a:r>
              <a:rPr lang="es-419" sz="2600">
                <a:latin typeface="Calibri"/>
                <a:ea typeface="Calibri"/>
                <a:cs typeface="Calibri"/>
                <a:sym typeface="Calibri"/>
              </a:rPr>
              <a:t>Aporte Principal y Desarrollo</a:t>
            </a:r>
            <a:endParaRPr sz="2600">
              <a:solidFill>
                <a:srgbClr val="000000"/>
              </a:solidFill>
              <a:latin typeface="Calibri"/>
              <a:ea typeface="Calibri"/>
              <a:cs typeface="Calibri"/>
              <a:sym typeface="Calibri"/>
            </a:endParaRPr>
          </a:p>
          <a:p>
            <a:pPr indent="-279400" lvl="1" marL="685800" rtl="0" algn="l">
              <a:lnSpc>
                <a:spcPct val="80000"/>
              </a:lnSpc>
              <a:spcBef>
                <a:spcPts val="500"/>
              </a:spcBef>
              <a:spcAft>
                <a:spcPts val="0"/>
              </a:spcAft>
              <a:buClr>
                <a:srgbClr val="000000"/>
              </a:buClr>
              <a:buSzPts val="2600"/>
              <a:buChar char="•"/>
            </a:pPr>
            <a:r>
              <a:rPr lang="es-419" sz="2600">
                <a:latin typeface="Calibri"/>
                <a:ea typeface="Calibri"/>
                <a:cs typeface="Calibri"/>
                <a:sym typeface="Calibri"/>
              </a:rPr>
              <a:t>Extensión a un 3er Sector </a:t>
            </a:r>
            <a:endParaRPr sz="2600">
              <a:latin typeface="Calibri"/>
              <a:ea typeface="Calibri"/>
              <a:cs typeface="Calibri"/>
              <a:sym typeface="Calibri"/>
            </a:endParaRPr>
          </a:p>
          <a:p>
            <a:pPr indent="-279400" lvl="1" marL="685800" rtl="0" algn="l">
              <a:lnSpc>
                <a:spcPct val="80000"/>
              </a:lnSpc>
              <a:spcBef>
                <a:spcPts val="500"/>
              </a:spcBef>
              <a:spcAft>
                <a:spcPts val="0"/>
              </a:spcAft>
              <a:buClr>
                <a:srgbClr val="000000"/>
              </a:buClr>
              <a:buSzPts val="2600"/>
              <a:buChar char="•"/>
            </a:pPr>
            <a:r>
              <a:rPr lang="es-419" sz="2600">
                <a:latin typeface="Calibri"/>
                <a:ea typeface="Calibri"/>
                <a:cs typeface="Calibri"/>
                <a:sym typeface="Calibri"/>
              </a:rPr>
              <a:t>Extension a n Sectores</a:t>
            </a:r>
            <a:endParaRPr sz="2600">
              <a:solidFill>
                <a:srgbClr val="000000"/>
              </a:solidFill>
              <a:latin typeface="Calibri"/>
              <a:ea typeface="Calibri"/>
              <a:cs typeface="Calibri"/>
              <a:sym typeface="Calibri"/>
            </a:endParaRPr>
          </a:p>
          <a:p>
            <a:pPr indent="-279400" lvl="1" marL="685800" rtl="0" algn="l">
              <a:lnSpc>
                <a:spcPct val="80000"/>
              </a:lnSpc>
              <a:spcBef>
                <a:spcPts val="0"/>
              </a:spcBef>
              <a:spcAft>
                <a:spcPts val="0"/>
              </a:spcAft>
              <a:buClr>
                <a:srgbClr val="000000"/>
              </a:buClr>
              <a:buSzPts val="2600"/>
              <a:buChar char="•"/>
            </a:pPr>
            <a:r>
              <a:rPr lang="es-419" sz="2600">
                <a:latin typeface="Calibri"/>
                <a:ea typeface="Calibri"/>
                <a:cs typeface="Calibri"/>
                <a:sym typeface="Calibri"/>
              </a:rPr>
              <a:t>OMSense</a:t>
            </a:r>
            <a:endParaRPr sz="2600">
              <a:solidFill>
                <a:srgbClr val="000000"/>
              </a:solidFill>
              <a:latin typeface="Calibri"/>
              <a:ea typeface="Calibri"/>
              <a:cs typeface="Calibri"/>
              <a:sym typeface="Calibri"/>
            </a:endParaRPr>
          </a:p>
          <a:p>
            <a:pPr indent="-279400" lvl="0" marL="228600" rtl="0" algn="l">
              <a:lnSpc>
                <a:spcPct val="80000"/>
              </a:lnSpc>
              <a:spcBef>
                <a:spcPts val="1000"/>
              </a:spcBef>
              <a:spcAft>
                <a:spcPts val="0"/>
              </a:spcAft>
              <a:buClr>
                <a:srgbClr val="000000"/>
              </a:buClr>
              <a:buSzPts val="2600"/>
              <a:buFont typeface="Noto Sans Symbols"/>
              <a:buChar char="▪"/>
            </a:pPr>
            <a:r>
              <a:rPr lang="es-419" sz="2600">
                <a:solidFill>
                  <a:srgbClr val="000000"/>
                </a:solidFill>
                <a:latin typeface="Calibri"/>
                <a:ea typeface="Calibri"/>
                <a:cs typeface="Calibri"/>
                <a:sym typeface="Calibri"/>
              </a:rPr>
              <a:t>Conclusion</a:t>
            </a:r>
            <a:r>
              <a:rPr lang="es-419" sz="2600">
                <a:latin typeface="Calibri"/>
                <a:ea typeface="Calibri"/>
                <a:cs typeface="Calibri"/>
                <a:sym typeface="Calibri"/>
              </a:rPr>
              <a:t>es y próximos pasos sugeridos</a:t>
            </a:r>
            <a:endParaRPr sz="2600">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idx="1" type="subTitle"/>
          </p:nvPr>
        </p:nvSpPr>
        <p:spPr>
          <a:xfrm>
            <a:off x="153275" y="881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419"/>
              <a:t>Tiempo Discreto vs Tiempo Continuo</a:t>
            </a:r>
            <a:endParaRPr/>
          </a:p>
        </p:txBody>
      </p:sp>
      <p:pic>
        <p:nvPicPr>
          <p:cNvPr id="79" name="Google Shape;79;p17"/>
          <p:cNvPicPr preferRelativeResize="0"/>
          <p:nvPr/>
        </p:nvPicPr>
        <p:blipFill>
          <a:blip r:embed="rId3">
            <a:alphaModFix/>
          </a:blip>
          <a:stretch>
            <a:fillRect/>
          </a:stretch>
        </p:blipFill>
        <p:spPr>
          <a:xfrm>
            <a:off x="0" y="1560325"/>
            <a:ext cx="4161626" cy="2721050"/>
          </a:xfrm>
          <a:prstGeom prst="rect">
            <a:avLst/>
          </a:prstGeom>
          <a:noFill/>
          <a:ln>
            <a:noFill/>
          </a:ln>
        </p:spPr>
      </p:pic>
      <p:pic>
        <p:nvPicPr>
          <p:cNvPr id="80" name="Google Shape;80;p17"/>
          <p:cNvPicPr preferRelativeResize="0"/>
          <p:nvPr/>
        </p:nvPicPr>
        <p:blipFill>
          <a:blip r:embed="rId4">
            <a:alphaModFix/>
          </a:blip>
          <a:stretch>
            <a:fillRect/>
          </a:stretch>
        </p:blipFill>
        <p:spPr>
          <a:xfrm>
            <a:off x="4303475" y="1888600"/>
            <a:ext cx="4840526" cy="2210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Resultados Paper vs Nuestros Resultados</a:t>
            </a:r>
            <a:endParaRPr/>
          </a:p>
        </p:txBody>
      </p:sp>
      <p:pic>
        <p:nvPicPr>
          <p:cNvPr id="86" name="Google Shape;86;p18"/>
          <p:cNvPicPr preferRelativeResize="0"/>
          <p:nvPr/>
        </p:nvPicPr>
        <p:blipFill>
          <a:blip r:embed="rId3">
            <a:alphaModFix/>
          </a:blip>
          <a:stretch>
            <a:fillRect/>
          </a:stretch>
        </p:blipFill>
        <p:spPr>
          <a:xfrm>
            <a:off x="1273300" y="1017725"/>
            <a:ext cx="2889950" cy="2073275"/>
          </a:xfrm>
          <a:prstGeom prst="rect">
            <a:avLst/>
          </a:prstGeom>
          <a:noFill/>
          <a:ln>
            <a:noFill/>
          </a:ln>
        </p:spPr>
      </p:pic>
      <p:pic>
        <p:nvPicPr>
          <p:cNvPr id="87" name="Google Shape;87;p18"/>
          <p:cNvPicPr preferRelativeResize="0"/>
          <p:nvPr/>
        </p:nvPicPr>
        <p:blipFill>
          <a:blip r:embed="rId4">
            <a:alphaModFix/>
          </a:blip>
          <a:stretch>
            <a:fillRect/>
          </a:stretch>
        </p:blipFill>
        <p:spPr>
          <a:xfrm>
            <a:off x="1373650" y="3091000"/>
            <a:ext cx="2789608" cy="2004850"/>
          </a:xfrm>
          <a:prstGeom prst="rect">
            <a:avLst/>
          </a:prstGeom>
          <a:noFill/>
          <a:ln>
            <a:noFill/>
          </a:ln>
        </p:spPr>
      </p:pic>
      <p:pic>
        <p:nvPicPr>
          <p:cNvPr id="88" name="Google Shape;88;p18"/>
          <p:cNvPicPr preferRelativeResize="0"/>
          <p:nvPr/>
        </p:nvPicPr>
        <p:blipFill>
          <a:blip r:embed="rId5">
            <a:alphaModFix/>
          </a:blip>
          <a:stretch>
            <a:fillRect/>
          </a:stretch>
        </p:blipFill>
        <p:spPr>
          <a:xfrm>
            <a:off x="4572000" y="3183225"/>
            <a:ext cx="3770274" cy="1820400"/>
          </a:xfrm>
          <a:prstGeom prst="rect">
            <a:avLst/>
          </a:prstGeom>
          <a:noFill/>
          <a:ln>
            <a:noFill/>
          </a:ln>
        </p:spPr>
      </p:pic>
      <p:pic>
        <p:nvPicPr>
          <p:cNvPr id="89" name="Google Shape;89;p18"/>
          <p:cNvPicPr preferRelativeResize="0"/>
          <p:nvPr/>
        </p:nvPicPr>
        <p:blipFill>
          <a:blip r:embed="rId6">
            <a:alphaModFix/>
          </a:blip>
          <a:stretch>
            <a:fillRect/>
          </a:stretch>
        </p:blipFill>
        <p:spPr>
          <a:xfrm>
            <a:off x="4526988" y="1170125"/>
            <a:ext cx="3860287" cy="18606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1202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Shocks</a:t>
            </a:r>
            <a:endParaRPr/>
          </a:p>
        </p:txBody>
      </p:sp>
      <p:sp>
        <p:nvSpPr>
          <p:cNvPr id="95" name="Google Shape;95;p19"/>
          <p:cNvSpPr txBox="1"/>
          <p:nvPr/>
        </p:nvSpPr>
        <p:spPr>
          <a:xfrm>
            <a:off x="105100" y="650175"/>
            <a:ext cx="9091200" cy="80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dk2"/>
                </a:solidFill>
              </a:rPr>
              <a:t>Resultados Paper vs Nuestros Resultados</a:t>
            </a:r>
            <a:endParaRPr sz="1800">
              <a:solidFill>
                <a:schemeClr val="dk2"/>
              </a:solidFill>
            </a:endParaRPr>
          </a:p>
        </p:txBody>
      </p:sp>
      <p:sp>
        <p:nvSpPr>
          <p:cNvPr id="96" name="Google Shape;96;p19"/>
          <p:cNvSpPr txBox="1"/>
          <p:nvPr/>
        </p:nvSpPr>
        <p:spPr>
          <a:xfrm>
            <a:off x="21300" y="1153000"/>
            <a:ext cx="9144000" cy="6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dk2"/>
                </a:solidFill>
              </a:rPr>
              <a:t>Shock en el precio de la </a:t>
            </a:r>
            <a:r>
              <a:rPr lang="es-419" sz="1800">
                <a:solidFill>
                  <a:schemeClr val="dk2"/>
                </a:solidFill>
              </a:rPr>
              <a:t>energía</a:t>
            </a:r>
            <a:endParaRPr sz="1800">
              <a:solidFill>
                <a:schemeClr val="dk2"/>
              </a:solidFill>
            </a:endParaRPr>
          </a:p>
        </p:txBody>
      </p:sp>
      <p:pic>
        <p:nvPicPr>
          <p:cNvPr id="97" name="Google Shape;97;p19"/>
          <p:cNvPicPr preferRelativeResize="0"/>
          <p:nvPr/>
        </p:nvPicPr>
        <p:blipFill>
          <a:blip r:embed="rId3">
            <a:alphaModFix/>
          </a:blip>
          <a:stretch>
            <a:fillRect/>
          </a:stretch>
        </p:blipFill>
        <p:spPr>
          <a:xfrm>
            <a:off x="4347700" y="2001525"/>
            <a:ext cx="4796302" cy="2328534"/>
          </a:xfrm>
          <a:prstGeom prst="rect">
            <a:avLst/>
          </a:prstGeom>
          <a:noFill/>
          <a:ln>
            <a:noFill/>
          </a:ln>
        </p:spPr>
      </p:pic>
      <p:pic>
        <p:nvPicPr>
          <p:cNvPr id="98" name="Google Shape;98;p19"/>
          <p:cNvPicPr preferRelativeResize="0"/>
          <p:nvPr/>
        </p:nvPicPr>
        <p:blipFill>
          <a:blip r:embed="rId4">
            <a:alphaModFix/>
          </a:blip>
          <a:stretch>
            <a:fillRect/>
          </a:stretch>
        </p:blipFill>
        <p:spPr>
          <a:xfrm>
            <a:off x="105100" y="1721450"/>
            <a:ext cx="4242601" cy="30454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1202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Shocks</a:t>
            </a:r>
            <a:endParaRPr/>
          </a:p>
        </p:txBody>
      </p:sp>
      <p:sp>
        <p:nvSpPr>
          <p:cNvPr id="104" name="Google Shape;104;p20"/>
          <p:cNvSpPr txBox="1"/>
          <p:nvPr/>
        </p:nvSpPr>
        <p:spPr>
          <a:xfrm>
            <a:off x="105100" y="650175"/>
            <a:ext cx="9091200" cy="80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dk2"/>
                </a:solidFill>
              </a:rPr>
              <a:t>Resultados Paper vs Nuestros Resultados</a:t>
            </a:r>
            <a:endParaRPr sz="1800">
              <a:solidFill>
                <a:schemeClr val="dk2"/>
              </a:solidFill>
            </a:endParaRPr>
          </a:p>
        </p:txBody>
      </p:sp>
      <p:sp>
        <p:nvSpPr>
          <p:cNvPr id="105" name="Google Shape;105;p20"/>
          <p:cNvSpPr txBox="1"/>
          <p:nvPr/>
        </p:nvSpPr>
        <p:spPr>
          <a:xfrm>
            <a:off x="21300" y="1153000"/>
            <a:ext cx="9144000" cy="6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dk2"/>
                </a:solidFill>
              </a:rPr>
              <a:t>Shock en el precio de la energía</a:t>
            </a:r>
            <a:endParaRPr sz="1800">
              <a:solidFill>
                <a:schemeClr val="dk2"/>
              </a:solidFill>
            </a:endParaRPr>
          </a:p>
        </p:txBody>
      </p:sp>
      <p:pic>
        <p:nvPicPr>
          <p:cNvPr id="106" name="Google Shape;106;p20"/>
          <p:cNvPicPr preferRelativeResize="0"/>
          <p:nvPr/>
        </p:nvPicPr>
        <p:blipFill>
          <a:blip r:embed="rId3">
            <a:alphaModFix/>
          </a:blip>
          <a:stretch>
            <a:fillRect/>
          </a:stretch>
        </p:blipFill>
        <p:spPr>
          <a:xfrm>
            <a:off x="205200" y="1834000"/>
            <a:ext cx="4042899" cy="2896944"/>
          </a:xfrm>
          <a:prstGeom prst="rect">
            <a:avLst/>
          </a:prstGeom>
          <a:noFill/>
          <a:ln>
            <a:noFill/>
          </a:ln>
        </p:spPr>
      </p:pic>
      <p:pic>
        <p:nvPicPr>
          <p:cNvPr id="107" name="Google Shape;107;p20"/>
          <p:cNvPicPr preferRelativeResize="0"/>
          <p:nvPr/>
        </p:nvPicPr>
        <p:blipFill>
          <a:blip r:embed="rId4">
            <a:alphaModFix/>
          </a:blip>
          <a:stretch>
            <a:fillRect/>
          </a:stretch>
        </p:blipFill>
        <p:spPr>
          <a:xfrm>
            <a:off x="4400499" y="1986400"/>
            <a:ext cx="4591102" cy="222746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1202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Shocks</a:t>
            </a:r>
            <a:endParaRPr/>
          </a:p>
        </p:txBody>
      </p:sp>
      <p:sp>
        <p:nvSpPr>
          <p:cNvPr id="113" name="Google Shape;113;p21"/>
          <p:cNvSpPr txBox="1"/>
          <p:nvPr/>
        </p:nvSpPr>
        <p:spPr>
          <a:xfrm>
            <a:off x="105100" y="650175"/>
            <a:ext cx="9091200" cy="80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dk2"/>
                </a:solidFill>
              </a:rPr>
              <a:t>Resultados Paper vs Nuestros Resultados</a:t>
            </a:r>
            <a:endParaRPr sz="1800">
              <a:solidFill>
                <a:schemeClr val="dk2"/>
              </a:solidFill>
            </a:endParaRPr>
          </a:p>
        </p:txBody>
      </p:sp>
      <p:sp>
        <p:nvSpPr>
          <p:cNvPr id="114" name="Google Shape;114;p21"/>
          <p:cNvSpPr txBox="1"/>
          <p:nvPr/>
        </p:nvSpPr>
        <p:spPr>
          <a:xfrm>
            <a:off x="21300" y="1153000"/>
            <a:ext cx="9144000" cy="6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dk2"/>
                </a:solidFill>
              </a:rPr>
              <a:t>Shock en el markup objetivo de las empresas</a:t>
            </a:r>
            <a:endParaRPr sz="1800">
              <a:solidFill>
                <a:schemeClr val="dk2"/>
              </a:solidFill>
            </a:endParaRPr>
          </a:p>
        </p:txBody>
      </p:sp>
      <p:pic>
        <p:nvPicPr>
          <p:cNvPr id="115" name="Google Shape;115;p21"/>
          <p:cNvPicPr preferRelativeResize="0"/>
          <p:nvPr/>
        </p:nvPicPr>
        <p:blipFill>
          <a:blip r:embed="rId3">
            <a:alphaModFix/>
          </a:blip>
          <a:stretch>
            <a:fillRect/>
          </a:stretch>
        </p:blipFill>
        <p:spPr>
          <a:xfrm>
            <a:off x="230800" y="1564300"/>
            <a:ext cx="4341200" cy="3102075"/>
          </a:xfrm>
          <a:prstGeom prst="rect">
            <a:avLst/>
          </a:prstGeom>
          <a:noFill/>
          <a:ln>
            <a:noFill/>
          </a:ln>
        </p:spPr>
      </p:pic>
      <p:pic>
        <p:nvPicPr>
          <p:cNvPr id="116" name="Google Shape;116;p21"/>
          <p:cNvPicPr preferRelativeResize="0"/>
          <p:nvPr/>
        </p:nvPicPr>
        <p:blipFill>
          <a:blip r:embed="rId4">
            <a:alphaModFix/>
          </a:blip>
          <a:stretch>
            <a:fillRect/>
          </a:stretch>
        </p:blipFill>
        <p:spPr>
          <a:xfrm>
            <a:off x="4630550" y="1902700"/>
            <a:ext cx="4534750" cy="21849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1202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Shocks</a:t>
            </a:r>
            <a:endParaRPr/>
          </a:p>
        </p:txBody>
      </p:sp>
      <p:sp>
        <p:nvSpPr>
          <p:cNvPr id="122" name="Google Shape;122;p22"/>
          <p:cNvSpPr txBox="1"/>
          <p:nvPr/>
        </p:nvSpPr>
        <p:spPr>
          <a:xfrm>
            <a:off x="105100" y="650175"/>
            <a:ext cx="9091200" cy="80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dk2"/>
                </a:solidFill>
              </a:rPr>
              <a:t>Participación</a:t>
            </a:r>
            <a:r>
              <a:rPr lang="es-419" sz="1800">
                <a:solidFill>
                  <a:schemeClr val="dk2"/>
                </a:solidFill>
              </a:rPr>
              <a:t> en las ganancias de Empresarios</a:t>
            </a:r>
            <a:endParaRPr sz="1800">
              <a:solidFill>
                <a:schemeClr val="dk2"/>
              </a:solidFill>
            </a:endParaRPr>
          </a:p>
        </p:txBody>
      </p:sp>
      <p:sp>
        <p:nvSpPr>
          <p:cNvPr id="123" name="Google Shape;123;p22"/>
          <p:cNvSpPr txBox="1"/>
          <p:nvPr/>
        </p:nvSpPr>
        <p:spPr>
          <a:xfrm>
            <a:off x="21300" y="1153000"/>
            <a:ext cx="9144000" cy="6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dk2"/>
                </a:solidFill>
              </a:rPr>
              <a:t>Shock en el markup objetivo de las empresas</a:t>
            </a:r>
            <a:endParaRPr sz="1800">
              <a:solidFill>
                <a:schemeClr val="dk2"/>
              </a:solidFill>
            </a:endParaRPr>
          </a:p>
        </p:txBody>
      </p:sp>
      <p:pic>
        <p:nvPicPr>
          <p:cNvPr id="124" name="Google Shape;124;p22"/>
          <p:cNvPicPr preferRelativeResize="0"/>
          <p:nvPr/>
        </p:nvPicPr>
        <p:blipFill>
          <a:blip r:embed="rId3">
            <a:alphaModFix/>
          </a:blip>
          <a:stretch>
            <a:fillRect/>
          </a:stretch>
        </p:blipFill>
        <p:spPr>
          <a:xfrm>
            <a:off x="1258575" y="1781200"/>
            <a:ext cx="6626852" cy="32151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311700" y="1202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Shocks</a:t>
            </a:r>
            <a:endParaRPr/>
          </a:p>
        </p:txBody>
      </p:sp>
      <p:sp>
        <p:nvSpPr>
          <p:cNvPr id="130" name="Google Shape;130;p23"/>
          <p:cNvSpPr txBox="1"/>
          <p:nvPr/>
        </p:nvSpPr>
        <p:spPr>
          <a:xfrm>
            <a:off x="105100" y="650175"/>
            <a:ext cx="9091200" cy="80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dk2"/>
                </a:solidFill>
              </a:rPr>
              <a:t>Resultados Paper vs Nuestros Resultados</a:t>
            </a:r>
            <a:endParaRPr sz="1800">
              <a:solidFill>
                <a:schemeClr val="dk2"/>
              </a:solidFill>
            </a:endParaRPr>
          </a:p>
        </p:txBody>
      </p:sp>
      <p:sp>
        <p:nvSpPr>
          <p:cNvPr id="131" name="Google Shape;131;p23"/>
          <p:cNvSpPr txBox="1"/>
          <p:nvPr/>
        </p:nvSpPr>
        <p:spPr>
          <a:xfrm>
            <a:off x="21300" y="1153000"/>
            <a:ext cx="9144000" cy="6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dk2"/>
                </a:solidFill>
              </a:rPr>
              <a:t>Shock en el salario real objetivo</a:t>
            </a:r>
            <a:endParaRPr sz="1800">
              <a:solidFill>
                <a:schemeClr val="dk2"/>
              </a:solidFill>
            </a:endParaRPr>
          </a:p>
        </p:txBody>
      </p:sp>
      <p:pic>
        <p:nvPicPr>
          <p:cNvPr id="132" name="Google Shape;132;p23"/>
          <p:cNvPicPr preferRelativeResize="0"/>
          <p:nvPr/>
        </p:nvPicPr>
        <p:blipFill>
          <a:blip r:embed="rId3">
            <a:alphaModFix/>
          </a:blip>
          <a:stretch>
            <a:fillRect/>
          </a:stretch>
        </p:blipFill>
        <p:spPr>
          <a:xfrm>
            <a:off x="311700" y="1703550"/>
            <a:ext cx="4190764" cy="3004699"/>
          </a:xfrm>
          <a:prstGeom prst="rect">
            <a:avLst/>
          </a:prstGeom>
          <a:noFill/>
          <a:ln>
            <a:noFill/>
          </a:ln>
        </p:spPr>
      </p:pic>
      <p:pic>
        <p:nvPicPr>
          <p:cNvPr id="133" name="Google Shape;133;p23"/>
          <p:cNvPicPr preferRelativeResize="0"/>
          <p:nvPr/>
        </p:nvPicPr>
        <p:blipFill>
          <a:blip r:embed="rId4">
            <a:alphaModFix/>
          </a:blip>
          <a:stretch>
            <a:fillRect/>
          </a:stretch>
        </p:blipFill>
        <p:spPr>
          <a:xfrm>
            <a:off x="4654876" y="1887505"/>
            <a:ext cx="4541427" cy="219407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311700" y="1202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Shocks</a:t>
            </a:r>
            <a:endParaRPr/>
          </a:p>
        </p:txBody>
      </p:sp>
      <p:sp>
        <p:nvSpPr>
          <p:cNvPr id="139" name="Google Shape;139;p24"/>
          <p:cNvSpPr txBox="1"/>
          <p:nvPr/>
        </p:nvSpPr>
        <p:spPr>
          <a:xfrm>
            <a:off x="105100" y="650175"/>
            <a:ext cx="9091200" cy="80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dk2"/>
                </a:solidFill>
              </a:rPr>
              <a:t>Participación</a:t>
            </a:r>
            <a:r>
              <a:rPr lang="es-419" sz="1800">
                <a:solidFill>
                  <a:schemeClr val="dk2"/>
                </a:solidFill>
              </a:rPr>
              <a:t> en las ganancias de trabajadores</a:t>
            </a:r>
            <a:endParaRPr sz="1800">
              <a:solidFill>
                <a:schemeClr val="dk2"/>
              </a:solidFill>
            </a:endParaRPr>
          </a:p>
        </p:txBody>
      </p:sp>
      <p:sp>
        <p:nvSpPr>
          <p:cNvPr id="140" name="Google Shape;140;p24"/>
          <p:cNvSpPr txBox="1"/>
          <p:nvPr/>
        </p:nvSpPr>
        <p:spPr>
          <a:xfrm>
            <a:off x="21300" y="1153000"/>
            <a:ext cx="9144000" cy="6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dk2"/>
                </a:solidFill>
              </a:rPr>
              <a:t>Shock en el salario real objetivo</a:t>
            </a:r>
            <a:endParaRPr sz="1800">
              <a:solidFill>
                <a:schemeClr val="dk2"/>
              </a:solidFill>
            </a:endParaRPr>
          </a:p>
        </p:txBody>
      </p:sp>
      <p:pic>
        <p:nvPicPr>
          <p:cNvPr id="141" name="Google Shape;141;p24"/>
          <p:cNvPicPr preferRelativeResize="0"/>
          <p:nvPr/>
        </p:nvPicPr>
        <p:blipFill>
          <a:blip r:embed="rId3">
            <a:alphaModFix/>
          </a:blip>
          <a:stretch>
            <a:fillRect/>
          </a:stretch>
        </p:blipFill>
        <p:spPr>
          <a:xfrm>
            <a:off x="1209626" y="1696700"/>
            <a:ext cx="6724751" cy="32361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nvSpPr>
        <p:spPr>
          <a:xfrm>
            <a:off x="59050" y="496975"/>
            <a:ext cx="6137400" cy="4572000"/>
          </a:xfrm>
          <a:prstGeom prst="rect">
            <a:avLst/>
          </a:prstGeom>
          <a:noFill/>
          <a:ln>
            <a:noFill/>
          </a:ln>
        </p:spPr>
        <p:txBody>
          <a:bodyPr anchorCtr="0" anchor="t" bIns="45700" lIns="91425" spcFirstLastPara="1" rIns="91425" wrap="square" tIns="45700">
            <a:normAutofit/>
          </a:bodyPr>
          <a:lstStyle/>
          <a:p>
            <a:pPr indent="-209550" lvl="0" marL="228600" rtl="0" algn="l">
              <a:lnSpc>
                <a:spcPct val="80000"/>
              </a:lnSpc>
              <a:spcBef>
                <a:spcPts val="0"/>
              </a:spcBef>
              <a:spcAft>
                <a:spcPts val="0"/>
              </a:spcAft>
              <a:buClr>
                <a:srgbClr val="B7B7B7"/>
              </a:buClr>
              <a:buSzPts val="2600"/>
              <a:buFont typeface="Noto Sans Symbols"/>
              <a:buChar char="▪"/>
            </a:pPr>
            <a:r>
              <a:rPr lang="es-419" sz="2600">
                <a:solidFill>
                  <a:srgbClr val="B7B7B7"/>
                </a:solidFill>
                <a:latin typeface="Calibri"/>
                <a:ea typeface="Calibri"/>
                <a:cs typeface="Calibri"/>
                <a:sym typeface="Calibri"/>
              </a:rPr>
              <a:t>Introducción</a:t>
            </a:r>
            <a:endParaRPr sz="2600">
              <a:solidFill>
                <a:srgbClr val="B7B7B7"/>
              </a:solidFill>
              <a:latin typeface="Calibri"/>
              <a:ea typeface="Calibri"/>
              <a:cs typeface="Calibri"/>
              <a:sym typeface="Calibri"/>
            </a:endParaRPr>
          </a:p>
          <a:p>
            <a:pPr indent="-279400" lvl="1" marL="685800" rtl="0" algn="l">
              <a:lnSpc>
                <a:spcPct val="80000"/>
              </a:lnSpc>
              <a:spcBef>
                <a:spcPts val="0"/>
              </a:spcBef>
              <a:spcAft>
                <a:spcPts val="0"/>
              </a:spcAft>
              <a:buClr>
                <a:srgbClr val="B7B7B7"/>
              </a:buClr>
              <a:buSzPts val="2600"/>
              <a:buFont typeface="Noto Sans Symbols"/>
              <a:buChar char="•"/>
            </a:pPr>
            <a:r>
              <a:rPr lang="es-419" sz="2600">
                <a:solidFill>
                  <a:srgbClr val="B7B7B7"/>
                </a:solidFill>
                <a:latin typeface="Calibri"/>
                <a:ea typeface="Calibri"/>
                <a:cs typeface="Calibri"/>
                <a:sym typeface="Calibri"/>
              </a:rPr>
              <a:t>Explicación del paper</a:t>
            </a:r>
            <a:endParaRPr sz="2600">
              <a:solidFill>
                <a:srgbClr val="B7B7B7"/>
              </a:solidFill>
              <a:latin typeface="Calibri"/>
              <a:ea typeface="Calibri"/>
              <a:cs typeface="Calibri"/>
              <a:sym typeface="Calibri"/>
            </a:endParaRPr>
          </a:p>
          <a:p>
            <a:pPr indent="-279400" lvl="1" marL="685800" rtl="0" algn="l">
              <a:lnSpc>
                <a:spcPct val="80000"/>
              </a:lnSpc>
              <a:spcBef>
                <a:spcPts val="0"/>
              </a:spcBef>
              <a:spcAft>
                <a:spcPts val="0"/>
              </a:spcAft>
              <a:buClr>
                <a:srgbClr val="B7B7B7"/>
              </a:buClr>
              <a:buSzPts val="2600"/>
              <a:buFont typeface="Noto Sans Symbols"/>
              <a:buChar char="•"/>
            </a:pPr>
            <a:r>
              <a:rPr lang="es-419" sz="2600">
                <a:solidFill>
                  <a:srgbClr val="B7B7B7"/>
                </a:solidFill>
                <a:latin typeface="Calibri"/>
                <a:ea typeface="Calibri"/>
                <a:cs typeface="Calibri"/>
                <a:sym typeface="Calibri"/>
              </a:rPr>
              <a:t>Objetivos</a:t>
            </a:r>
            <a:endParaRPr sz="2600">
              <a:solidFill>
                <a:srgbClr val="B7B7B7"/>
              </a:solidFill>
              <a:latin typeface="Calibri"/>
              <a:ea typeface="Calibri"/>
              <a:cs typeface="Calibri"/>
              <a:sym typeface="Calibri"/>
            </a:endParaRPr>
          </a:p>
          <a:p>
            <a:pPr indent="-254000" lvl="1" marL="685800" rtl="0" algn="l">
              <a:lnSpc>
                <a:spcPct val="80000"/>
              </a:lnSpc>
              <a:spcBef>
                <a:spcPts val="500"/>
              </a:spcBef>
              <a:spcAft>
                <a:spcPts val="0"/>
              </a:spcAft>
              <a:buClr>
                <a:srgbClr val="B7B7B7"/>
              </a:buClr>
              <a:buSzPts val="2200"/>
              <a:buFont typeface="Calibri"/>
              <a:buChar char="•"/>
            </a:pPr>
            <a:r>
              <a:rPr lang="es-419" sz="2600">
                <a:solidFill>
                  <a:srgbClr val="B7B7B7"/>
                </a:solidFill>
                <a:latin typeface="Calibri"/>
                <a:ea typeface="Calibri"/>
                <a:cs typeface="Calibri"/>
                <a:sym typeface="Calibri"/>
              </a:rPr>
              <a:t>Pasaje del modelo a modelica</a:t>
            </a:r>
            <a:endParaRPr sz="2600">
              <a:solidFill>
                <a:srgbClr val="B7B7B7"/>
              </a:solidFill>
              <a:latin typeface="Calibri"/>
              <a:ea typeface="Calibri"/>
              <a:cs typeface="Calibri"/>
              <a:sym typeface="Calibri"/>
            </a:endParaRPr>
          </a:p>
          <a:p>
            <a:pPr indent="-279400" lvl="0" marL="228600" rtl="0" algn="l">
              <a:lnSpc>
                <a:spcPct val="80000"/>
              </a:lnSpc>
              <a:spcBef>
                <a:spcPts val="1000"/>
              </a:spcBef>
              <a:spcAft>
                <a:spcPts val="0"/>
              </a:spcAft>
              <a:buClr>
                <a:srgbClr val="000000"/>
              </a:buClr>
              <a:buSzPts val="2600"/>
              <a:buChar char="▪"/>
            </a:pPr>
            <a:r>
              <a:rPr lang="es-419" sz="2600">
                <a:latin typeface="Calibri"/>
                <a:ea typeface="Calibri"/>
                <a:cs typeface="Calibri"/>
                <a:sym typeface="Calibri"/>
              </a:rPr>
              <a:t>Aporte Principal y Desarrollo</a:t>
            </a:r>
            <a:endParaRPr sz="2600">
              <a:solidFill>
                <a:srgbClr val="000000"/>
              </a:solidFill>
              <a:latin typeface="Calibri"/>
              <a:ea typeface="Calibri"/>
              <a:cs typeface="Calibri"/>
              <a:sym typeface="Calibri"/>
            </a:endParaRPr>
          </a:p>
          <a:p>
            <a:pPr indent="-279400" lvl="1" marL="685800" rtl="0" algn="l">
              <a:lnSpc>
                <a:spcPct val="80000"/>
              </a:lnSpc>
              <a:spcBef>
                <a:spcPts val="500"/>
              </a:spcBef>
              <a:spcAft>
                <a:spcPts val="0"/>
              </a:spcAft>
              <a:buClr>
                <a:srgbClr val="000000"/>
              </a:buClr>
              <a:buSzPts val="2600"/>
              <a:buChar char="•"/>
            </a:pPr>
            <a:r>
              <a:rPr lang="es-419" sz="2600">
                <a:latin typeface="Calibri"/>
                <a:ea typeface="Calibri"/>
                <a:cs typeface="Calibri"/>
                <a:sym typeface="Calibri"/>
              </a:rPr>
              <a:t>Extensión a un 3er Sector </a:t>
            </a:r>
            <a:endParaRPr sz="2600">
              <a:latin typeface="Calibri"/>
              <a:ea typeface="Calibri"/>
              <a:cs typeface="Calibri"/>
              <a:sym typeface="Calibri"/>
            </a:endParaRPr>
          </a:p>
          <a:p>
            <a:pPr indent="-279400" lvl="1" marL="685800" rtl="0" algn="l">
              <a:lnSpc>
                <a:spcPct val="80000"/>
              </a:lnSpc>
              <a:spcBef>
                <a:spcPts val="500"/>
              </a:spcBef>
              <a:spcAft>
                <a:spcPts val="0"/>
              </a:spcAft>
              <a:buClr>
                <a:srgbClr val="000000"/>
              </a:buClr>
              <a:buSzPts val="2600"/>
              <a:buChar char="•"/>
            </a:pPr>
            <a:r>
              <a:rPr lang="es-419" sz="2600">
                <a:latin typeface="Calibri"/>
                <a:ea typeface="Calibri"/>
                <a:cs typeface="Calibri"/>
                <a:sym typeface="Calibri"/>
              </a:rPr>
              <a:t>Extension a n Sectores</a:t>
            </a:r>
            <a:endParaRPr sz="2600">
              <a:solidFill>
                <a:srgbClr val="000000"/>
              </a:solidFill>
              <a:latin typeface="Calibri"/>
              <a:ea typeface="Calibri"/>
              <a:cs typeface="Calibri"/>
              <a:sym typeface="Calibri"/>
            </a:endParaRPr>
          </a:p>
          <a:p>
            <a:pPr indent="-279400" lvl="1" marL="685800" rtl="0" algn="l">
              <a:lnSpc>
                <a:spcPct val="80000"/>
              </a:lnSpc>
              <a:spcBef>
                <a:spcPts val="0"/>
              </a:spcBef>
              <a:spcAft>
                <a:spcPts val="0"/>
              </a:spcAft>
              <a:buClr>
                <a:srgbClr val="000000"/>
              </a:buClr>
              <a:buSzPts val="2600"/>
              <a:buChar char="•"/>
            </a:pPr>
            <a:r>
              <a:rPr lang="es-419" sz="2600">
                <a:latin typeface="Calibri"/>
                <a:ea typeface="Calibri"/>
                <a:cs typeface="Calibri"/>
                <a:sym typeface="Calibri"/>
              </a:rPr>
              <a:t>OMSense</a:t>
            </a:r>
            <a:endParaRPr sz="2600">
              <a:solidFill>
                <a:srgbClr val="000000"/>
              </a:solidFill>
              <a:latin typeface="Calibri"/>
              <a:ea typeface="Calibri"/>
              <a:cs typeface="Calibri"/>
              <a:sym typeface="Calibri"/>
            </a:endParaRPr>
          </a:p>
          <a:p>
            <a:pPr indent="-279400" lvl="0" marL="228600" rtl="0" algn="l">
              <a:lnSpc>
                <a:spcPct val="80000"/>
              </a:lnSpc>
              <a:spcBef>
                <a:spcPts val="1000"/>
              </a:spcBef>
              <a:spcAft>
                <a:spcPts val="0"/>
              </a:spcAft>
              <a:buClr>
                <a:srgbClr val="000000"/>
              </a:buClr>
              <a:buSzPts val="2600"/>
              <a:buFont typeface="Noto Sans Symbols"/>
              <a:buChar char="▪"/>
            </a:pPr>
            <a:r>
              <a:rPr lang="es-419" sz="2600">
                <a:solidFill>
                  <a:srgbClr val="000000"/>
                </a:solidFill>
                <a:latin typeface="Calibri"/>
                <a:ea typeface="Calibri"/>
                <a:cs typeface="Calibri"/>
                <a:sym typeface="Calibri"/>
              </a:rPr>
              <a:t>Conclusion</a:t>
            </a:r>
            <a:r>
              <a:rPr lang="es-419" sz="2600">
                <a:latin typeface="Calibri"/>
                <a:ea typeface="Calibri"/>
                <a:cs typeface="Calibri"/>
                <a:sym typeface="Calibri"/>
              </a:rPr>
              <a:t>es y próximos pasos sugeridos</a:t>
            </a:r>
            <a:endParaRPr sz="2600">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ctrTitle"/>
          </p:nvPr>
        </p:nvSpPr>
        <p:spPr>
          <a:xfrm>
            <a:off x="723150" y="179725"/>
            <a:ext cx="7697700" cy="65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s-419" sz="2480"/>
              <a:t>Primera extensi</a:t>
            </a:r>
            <a:r>
              <a:rPr lang="es-419" sz="2480"/>
              <a:t>ón del modelo</a:t>
            </a:r>
            <a:r>
              <a:rPr lang="es-419" sz="2480"/>
              <a:t> </a:t>
            </a:r>
            <a:endParaRPr sz="2480"/>
          </a:p>
        </p:txBody>
      </p:sp>
      <p:sp>
        <p:nvSpPr>
          <p:cNvPr id="152" name="Google Shape;152;p26"/>
          <p:cNvSpPr txBox="1"/>
          <p:nvPr>
            <p:ph idx="1" type="subTitle"/>
          </p:nvPr>
        </p:nvSpPr>
        <p:spPr>
          <a:xfrm>
            <a:off x="139300" y="1138200"/>
            <a:ext cx="3710700" cy="3544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700"/>
              <a:t>Una superclase que representa a un sector industrial gen</a:t>
            </a:r>
            <a:r>
              <a:rPr lang="es-419" sz="1700"/>
              <a:t>érico. </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s-419" sz="1700"/>
              <a:t>mismas equaciones que el sector del paper.</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s-419" sz="1700"/>
              <a:t>se puede instanciar setteando 3 parámetros.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s-419" sz="1700"/>
              <a:t>Problema: Sectores completamente aislados.</a:t>
            </a:r>
            <a:endParaRPr sz="1700"/>
          </a:p>
        </p:txBody>
      </p:sp>
      <p:pic>
        <p:nvPicPr>
          <p:cNvPr id="153" name="Google Shape;153;p26"/>
          <p:cNvPicPr preferRelativeResize="0"/>
          <p:nvPr/>
        </p:nvPicPr>
        <p:blipFill>
          <a:blip r:embed="rId3">
            <a:alphaModFix/>
          </a:blip>
          <a:stretch>
            <a:fillRect/>
          </a:stretch>
        </p:blipFill>
        <p:spPr>
          <a:xfrm>
            <a:off x="3850000" y="1138200"/>
            <a:ext cx="5294002" cy="2867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00" y="225200"/>
            <a:ext cx="8520600" cy="792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0"/>
              </a:spcAft>
              <a:buNone/>
            </a:pPr>
            <a:r>
              <a:rPr lang="es-419"/>
              <a:t>Aporte Principal y Desarrollo</a:t>
            </a:r>
            <a:endParaRPr/>
          </a:p>
        </p:txBody>
      </p:sp>
      <p:pic>
        <p:nvPicPr>
          <p:cNvPr id="159" name="Google Shape;159;p27"/>
          <p:cNvPicPr preferRelativeResize="0"/>
          <p:nvPr/>
        </p:nvPicPr>
        <p:blipFill>
          <a:blip r:embed="rId3">
            <a:alphaModFix/>
          </a:blip>
          <a:stretch>
            <a:fillRect/>
          </a:stretch>
        </p:blipFill>
        <p:spPr>
          <a:xfrm>
            <a:off x="152400" y="935374"/>
            <a:ext cx="4059124" cy="4044651"/>
          </a:xfrm>
          <a:prstGeom prst="rect">
            <a:avLst/>
          </a:prstGeom>
          <a:noFill/>
          <a:ln>
            <a:noFill/>
          </a:ln>
        </p:spPr>
      </p:pic>
      <p:sp>
        <p:nvSpPr>
          <p:cNvPr id="160" name="Google Shape;160;p27"/>
          <p:cNvSpPr txBox="1"/>
          <p:nvPr/>
        </p:nvSpPr>
        <p:spPr>
          <a:xfrm>
            <a:off x="4431500" y="1017725"/>
            <a:ext cx="4712400" cy="4044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s-419" sz="1800">
                <a:solidFill>
                  <a:schemeClr val="dk2"/>
                </a:solidFill>
              </a:rPr>
              <a:t>Se extiende el modelo y se agrega el sector servicios con un consumo menor de </a:t>
            </a:r>
            <a:r>
              <a:rPr lang="es-419" sz="1800">
                <a:solidFill>
                  <a:schemeClr val="dk2"/>
                </a:solidFill>
              </a:rPr>
              <a:t>energía</a:t>
            </a:r>
            <a:r>
              <a:rPr lang="es-419" sz="1800">
                <a:solidFill>
                  <a:schemeClr val="dk2"/>
                </a:solidFill>
              </a:rPr>
              <a:t> y un salario real objetivo </a:t>
            </a:r>
            <a:r>
              <a:rPr lang="es-419" sz="1800">
                <a:solidFill>
                  <a:schemeClr val="dk2"/>
                </a:solidFill>
              </a:rPr>
              <a:t>más</a:t>
            </a:r>
            <a:r>
              <a:rPr lang="es-419" sz="1800">
                <a:solidFill>
                  <a:schemeClr val="dk2"/>
                </a:solidFill>
              </a:rPr>
              <a:t> alto</a:t>
            </a:r>
            <a:endParaRPr sz="1800">
              <a:solidFill>
                <a:schemeClr val="dk2"/>
              </a:solidFill>
            </a:endParaRPr>
          </a:p>
          <a:p>
            <a:pPr indent="-342900" lvl="0" marL="457200" rtl="0" algn="l">
              <a:spcBef>
                <a:spcPts val="0"/>
              </a:spcBef>
              <a:spcAft>
                <a:spcPts val="0"/>
              </a:spcAft>
              <a:buClr>
                <a:schemeClr val="dk2"/>
              </a:buClr>
              <a:buSzPts val="1800"/>
              <a:buChar char="●"/>
            </a:pPr>
            <a:r>
              <a:rPr lang="es-419" sz="1800">
                <a:solidFill>
                  <a:schemeClr val="dk2"/>
                </a:solidFill>
              </a:rPr>
              <a:t>El sector </a:t>
            </a:r>
            <a:r>
              <a:rPr lang="es-419" sz="1800">
                <a:solidFill>
                  <a:schemeClr val="dk2"/>
                </a:solidFill>
              </a:rPr>
              <a:t>energético</a:t>
            </a:r>
            <a:r>
              <a:rPr lang="es-419" sz="1800">
                <a:solidFill>
                  <a:schemeClr val="dk2"/>
                </a:solidFill>
              </a:rPr>
              <a:t> </a:t>
            </a:r>
            <a:r>
              <a:rPr lang="es-419" sz="1800">
                <a:solidFill>
                  <a:schemeClr val="dk2"/>
                </a:solidFill>
              </a:rPr>
              <a:t>está</a:t>
            </a:r>
            <a:r>
              <a:rPr lang="es-419" sz="1800">
                <a:solidFill>
                  <a:schemeClr val="dk2"/>
                </a:solidFill>
              </a:rPr>
              <a:t> </a:t>
            </a:r>
            <a:r>
              <a:rPr lang="es-419" sz="1800">
                <a:solidFill>
                  <a:schemeClr val="dk2"/>
                </a:solidFill>
              </a:rPr>
              <a:t>implícito</a:t>
            </a:r>
            <a:r>
              <a:rPr lang="es-419" sz="1800">
                <a:solidFill>
                  <a:schemeClr val="dk2"/>
                </a:solidFill>
              </a:rPr>
              <a:t> en el modelo entonces no se encuentra en la </a:t>
            </a:r>
            <a:r>
              <a:rPr lang="es-419" sz="1800">
                <a:solidFill>
                  <a:schemeClr val="dk2"/>
                </a:solidFill>
              </a:rPr>
              <a:t>interacción</a:t>
            </a:r>
            <a:endParaRPr sz="1800">
              <a:solidFill>
                <a:schemeClr val="dk2"/>
              </a:solidFill>
            </a:endParaRPr>
          </a:p>
          <a:p>
            <a:pPr indent="-342900" lvl="0" marL="457200" rtl="0" algn="l">
              <a:spcBef>
                <a:spcPts val="0"/>
              </a:spcBef>
              <a:spcAft>
                <a:spcPts val="0"/>
              </a:spcAft>
              <a:buClr>
                <a:schemeClr val="dk2"/>
              </a:buClr>
              <a:buSzPts val="1800"/>
              <a:buChar char="●"/>
            </a:pPr>
            <a:r>
              <a:rPr lang="es-419" sz="1800">
                <a:solidFill>
                  <a:schemeClr val="dk2"/>
                </a:solidFill>
              </a:rPr>
              <a:t>Cada sector tiene dos puertos, precio_compra y precio_venta mediante el cual se conecta con el otro sector</a:t>
            </a:r>
            <a:endParaRPr sz="1800">
              <a:solidFill>
                <a:schemeClr val="dk2"/>
              </a:solidFill>
            </a:endParaRPr>
          </a:p>
          <a:p>
            <a:pPr indent="-342900" lvl="0" marL="457200" rtl="0" algn="l">
              <a:spcBef>
                <a:spcPts val="0"/>
              </a:spcBef>
              <a:spcAft>
                <a:spcPts val="0"/>
              </a:spcAft>
              <a:buClr>
                <a:schemeClr val="dk2"/>
              </a:buClr>
              <a:buSzPts val="1800"/>
              <a:buChar char="●"/>
            </a:pPr>
            <a:r>
              <a:rPr lang="es-419" sz="1800">
                <a:solidFill>
                  <a:schemeClr val="dk2"/>
                </a:solidFill>
              </a:rPr>
              <a:t>El precio_compra de servicios es el precio_venta de bienes y viceversa</a:t>
            </a:r>
            <a:endParaRPr sz="1800">
              <a:solidFill>
                <a:schemeClr val="dk2"/>
              </a:solidFill>
            </a:endParaRPr>
          </a:p>
        </p:txBody>
      </p:sp>
      <p:cxnSp>
        <p:nvCxnSpPr>
          <p:cNvPr id="161" name="Google Shape;161;p27"/>
          <p:cNvCxnSpPr/>
          <p:nvPr/>
        </p:nvCxnSpPr>
        <p:spPr>
          <a:xfrm flipH="1" rot="10800000">
            <a:off x="174400" y="2705375"/>
            <a:ext cx="237000" cy="13500"/>
          </a:xfrm>
          <a:prstGeom prst="straightConnector1">
            <a:avLst/>
          </a:prstGeom>
          <a:noFill/>
          <a:ln cap="flat" cmpd="sng" w="9525">
            <a:solidFill>
              <a:schemeClr val="dk2"/>
            </a:solidFill>
            <a:prstDash val="solid"/>
            <a:round/>
            <a:headEnd len="med" w="med" type="none"/>
            <a:tailEnd len="med" w="med" type="triangle"/>
          </a:ln>
        </p:spPr>
      </p:cxnSp>
      <p:cxnSp>
        <p:nvCxnSpPr>
          <p:cNvPr id="162" name="Google Shape;162;p27"/>
          <p:cNvCxnSpPr/>
          <p:nvPr/>
        </p:nvCxnSpPr>
        <p:spPr>
          <a:xfrm flipH="1" rot="10800000">
            <a:off x="2387950" y="2204575"/>
            <a:ext cx="169800" cy="4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ph type="title"/>
          </p:nvPr>
        </p:nvSpPr>
        <p:spPr>
          <a:xfrm>
            <a:off x="206925" y="469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Shock </a:t>
            </a:r>
            <a:r>
              <a:rPr lang="es-419"/>
              <a:t>energético</a:t>
            </a:r>
            <a:endParaRPr/>
          </a:p>
        </p:txBody>
      </p:sp>
      <p:pic>
        <p:nvPicPr>
          <p:cNvPr id="168" name="Google Shape;168;p28"/>
          <p:cNvPicPr preferRelativeResize="0"/>
          <p:nvPr/>
        </p:nvPicPr>
        <p:blipFill>
          <a:blip r:embed="rId3">
            <a:alphaModFix/>
          </a:blip>
          <a:stretch>
            <a:fillRect/>
          </a:stretch>
        </p:blipFill>
        <p:spPr>
          <a:xfrm>
            <a:off x="0" y="529925"/>
            <a:ext cx="4857675" cy="2269276"/>
          </a:xfrm>
          <a:prstGeom prst="rect">
            <a:avLst/>
          </a:prstGeom>
          <a:noFill/>
          <a:ln>
            <a:noFill/>
          </a:ln>
        </p:spPr>
      </p:pic>
      <p:pic>
        <p:nvPicPr>
          <p:cNvPr id="169" name="Google Shape;169;p28"/>
          <p:cNvPicPr preferRelativeResize="0"/>
          <p:nvPr/>
        </p:nvPicPr>
        <p:blipFill>
          <a:blip r:embed="rId4">
            <a:alphaModFix/>
          </a:blip>
          <a:stretch>
            <a:fillRect/>
          </a:stretch>
        </p:blipFill>
        <p:spPr>
          <a:xfrm>
            <a:off x="-2" y="2799200"/>
            <a:ext cx="4857675" cy="2344289"/>
          </a:xfrm>
          <a:prstGeom prst="rect">
            <a:avLst/>
          </a:prstGeom>
          <a:noFill/>
          <a:ln>
            <a:noFill/>
          </a:ln>
        </p:spPr>
      </p:pic>
      <p:sp>
        <p:nvSpPr>
          <p:cNvPr id="170" name="Google Shape;170;p28"/>
          <p:cNvSpPr txBox="1"/>
          <p:nvPr/>
        </p:nvSpPr>
        <p:spPr>
          <a:xfrm>
            <a:off x="5206700" y="529925"/>
            <a:ext cx="3687300" cy="21210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s-419" sz="1800">
                <a:solidFill>
                  <a:schemeClr val="dk2"/>
                </a:solidFill>
              </a:rPr>
              <a:t>Vemos como la </a:t>
            </a:r>
            <a:r>
              <a:rPr lang="es-419" sz="1800">
                <a:solidFill>
                  <a:schemeClr val="dk2"/>
                </a:solidFill>
              </a:rPr>
              <a:t>inflación</a:t>
            </a:r>
            <a:r>
              <a:rPr lang="es-419" sz="1800">
                <a:solidFill>
                  <a:schemeClr val="dk2"/>
                </a:solidFill>
              </a:rPr>
              <a:t> en precios es mayor en los bienes que es un sector donde se utiliza mayor cantidad de </a:t>
            </a:r>
            <a:r>
              <a:rPr lang="es-419" sz="1800">
                <a:solidFill>
                  <a:schemeClr val="dk2"/>
                </a:solidFill>
              </a:rPr>
              <a:t>energía</a:t>
            </a:r>
            <a:r>
              <a:rPr lang="es-419" sz="1800">
                <a:solidFill>
                  <a:schemeClr val="dk2"/>
                </a:solidFill>
              </a:rPr>
              <a:t> y por ende los precios dependen </a:t>
            </a:r>
            <a:r>
              <a:rPr lang="es-419" sz="1800">
                <a:solidFill>
                  <a:schemeClr val="dk2"/>
                </a:solidFill>
              </a:rPr>
              <a:t>más</a:t>
            </a:r>
            <a:r>
              <a:rPr lang="es-419" sz="1800">
                <a:solidFill>
                  <a:schemeClr val="dk2"/>
                </a:solidFill>
              </a:rPr>
              <a:t> del valor de esta</a:t>
            </a:r>
            <a:endParaRPr sz="1800">
              <a:solidFill>
                <a:schemeClr val="dk2"/>
              </a:solidFill>
            </a:endParaRPr>
          </a:p>
        </p:txBody>
      </p:sp>
      <p:sp>
        <p:nvSpPr>
          <p:cNvPr id="171" name="Google Shape;171;p28"/>
          <p:cNvSpPr txBox="1"/>
          <p:nvPr/>
        </p:nvSpPr>
        <p:spPr>
          <a:xfrm>
            <a:off x="5206700" y="2839575"/>
            <a:ext cx="3687300" cy="2269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s-419" sz="1800">
                <a:solidFill>
                  <a:schemeClr val="dk2"/>
                </a:solidFill>
              </a:rPr>
              <a:t>En este caso vemos como los salarios de los empleados de servicios crecen </a:t>
            </a:r>
            <a:r>
              <a:rPr lang="es-419" sz="1800">
                <a:solidFill>
                  <a:schemeClr val="dk2"/>
                </a:solidFill>
              </a:rPr>
              <a:t>más</a:t>
            </a:r>
            <a:r>
              <a:rPr lang="es-419" sz="1800">
                <a:solidFill>
                  <a:schemeClr val="dk2"/>
                </a:solidFill>
              </a:rPr>
              <a:t> </a:t>
            </a:r>
            <a:r>
              <a:rPr lang="es-419" sz="1800">
                <a:solidFill>
                  <a:schemeClr val="dk2"/>
                </a:solidFill>
              </a:rPr>
              <a:t>rápido</a:t>
            </a:r>
            <a:r>
              <a:rPr lang="es-419" sz="1800">
                <a:solidFill>
                  <a:schemeClr val="dk2"/>
                </a:solidFill>
              </a:rPr>
              <a:t> ya que tienen un salario real objetivo mayor y a la vez por eso mismo consiguen un mayor salario real y una menor </a:t>
            </a:r>
            <a:r>
              <a:rPr lang="es-419" sz="1800">
                <a:solidFill>
                  <a:schemeClr val="dk2"/>
                </a:solidFill>
              </a:rPr>
              <a:t>caída de este</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type="title"/>
          </p:nvPr>
        </p:nvSpPr>
        <p:spPr>
          <a:xfrm>
            <a:off x="185975" y="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Shock </a:t>
            </a:r>
            <a:r>
              <a:rPr lang="es-419"/>
              <a:t>markup</a:t>
            </a:r>
            <a:r>
              <a:rPr lang="es-419"/>
              <a:t> empresas</a:t>
            </a:r>
            <a:endParaRPr/>
          </a:p>
        </p:txBody>
      </p:sp>
      <p:sp>
        <p:nvSpPr>
          <p:cNvPr id="177" name="Google Shape;177;p29"/>
          <p:cNvSpPr txBox="1"/>
          <p:nvPr/>
        </p:nvSpPr>
        <p:spPr>
          <a:xfrm>
            <a:off x="5198350" y="723500"/>
            <a:ext cx="3945600" cy="25008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dk2"/>
              </a:buClr>
              <a:buSzPts val="1800"/>
              <a:buChar char="●"/>
            </a:pPr>
            <a:r>
              <a:rPr lang="es-419" sz="1800">
                <a:solidFill>
                  <a:schemeClr val="dk2"/>
                </a:solidFill>
              </a:rPr>
              <a:t>En este caso el markup de las empresas de servicio sube. Lo que vemos que arrastra a la alza a los precios de los bienes ya que las empresas manufactureras consumen servicios que suben de precio</a:t>
            </a:r>
            <a:endParaRPr sz="1800">
              <a:solidFill>
                <a:schemeClr val="dk2"/>
              </a:solidFill>
            </a:endParaRPr>
          </a:p>
        </p:txBody>
      </p:sp>
      <p:pic>
        <p:nvPicPr>
          <p:cNvPr id="178" name="Google Shape;178;p29"/>
          <p:cNvPicPr preferRelativeResize="0"/>
          <p:nvPr/>
        </p:nvPicPr>
        <p:blipFill>
          <a:blip r:embed="rId3">
            <a:alphaModFix/>
          </a:blip>
          <a:stretch>
            <a:fillRect/>
          </a:stretch>
        </p:blipFill>
        <p:spPr>
          <a:xfrm>
            <a:off x="0" y="484175"/>
            <a:ext cx="5039101" cy="2500826"/>
          </a:xfrm>
          <a:prstGeom prst="rect">
            <a:avLst/>
          </a:prstGeom>
          <a:noFill/>
          <a:ln>
            <a:noFill/>
          </a:ln>
        </p:spPr>
      </p:pic>
      <p:pic>
        <p:nvPicPr>
          <p:cNvPr id="179" name="Google Shape;179;p29"/>
          <p:cNvPicPr preferRelativeResize="0"/>
          <p:nvPr/>
        </p:nvPicPr>
        <p:blipFill>
          <a:blip r:embed="rId4">
            <a:alphaModFix/>
          </a:blip>
          <a:stretch>
            <a:fillRect/>
          </a:stretch>
        </p:blipFill>
        <p:spPr>
          <a:xfrm>
            <a:off x="0" y="2985000"/>
            <a:ext cx="5039099" cy="2162925"/>
          </a:xfrm>
          <a:prstGeom prst="rect">
            <a:avLst/>
          </a:prstGeom>
          <a:noFill/>
          <a:ln>
            <a:noFill/>
          </a:ln>
        </p:spPr>
      </p:pic>
      <p:sp>
        <p:nvSpPr>
          <p:cNvPr id="180" name="Google Shape;180;p29"/>
          <p:cNvSpPr txBox="1"/>
          <p:nvPr/>
        </p:nvSpPr>
        <p:spPr>
          <a:xfrm>
            <a:off x="5142850" y="3090563"/>
            <a:ext cx="3945600" cy="19518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dk2"/>
              </a:buClr>
              <a:buSzPts val="1800"/>
              <a:buChar char="●"/>
            </a:pPr>
            <a:r>
              <a:rPr lang="es-419" sz="1800">
                <a:solidFill>
                  <a:schemeClr val="dk2"/>
                </a:solidFill>
              </a:rPr>
              <a:t>Otra vez vemos que los salarios reales de los empleados manufactureros caen mas en </a:t>
            </a:r>
            <a:r>
              <a:rPr lang="es-419" sz="1800">
                <a:solidFill>
                  <a:schemeClr val="dk2"/>
                </a:solidFill>
              </a:rPr>
              <a:t>comparación</a:t>
            </a:r>
            <a:r>
              <a:rPr lang="es-419" sz="1800">
                <a:solidFill>
                  <a:schemeClr val="dk2"/>
                </a:solidFill>
              </a:rPr>
              <a:t> con los de los empleados del sector servicios por tener un salario real objetivo mas bajo </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type="title"/>
          </p:nvPr>
        </p:nvSpPr>
        <p:spPr>
          <a:xfrm>
            <a:off x="266875" y="528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Shock Salarial</a:t>
            </a:r>
            <a:endParaRPr/>
          </a:p>
        </p:txBody>
      </p:sp>
      <p:pic>
        <p:nvPicPr>
          <p:cNvPr id="186" name="Google Shape;186;p30"/>
          <p:cNvPicPr preferRelativeResize="0"/>
          <p:nvPr/>
        </p:nvPicPr>
        <p:blipFill>
          <a:blip r:embed="rId3">
            <a:alphaModFix/>
          </a:blip>
          <a:stretch>
            <a:fillRect/>
          </a:stretch>
        </p:blipFill>
        <p:spPr>
          <a:xfrm>
            <a:off x="0" y="553825"/>
            <a:ext cx="5116372" cy="2399326"/>
          </a:xfrm>
          <a:prstGeom prst="rect">
            <a:avLst/>
          </a:prstGeom>
          <a:noFill/>
          <a:ln>
            <a:noFill/>
          </a:ln>
        </p:spPr>
      </p:pic>
      <p:pic>
        <p:nvPicPr>
          <p:cNvPr id="187" name="Google Shape;187;p30"/>
          <p:cNvPicPr preferRelativeResize="0"/>
          <p:nvPr/>
        </p:nvPicPr>
        <p:blipFill>
          <a:blip r:embed="rId4">
            <a:alphaModFix/>
          </a:blip>
          <a:stretch>
            <a:fillRect/>
          </a:stretch>
        </p:blipFill>
        <p:spPr>
          <a:xfrm>
            <a:off x="0" y="2974054"/>
            <a:ext cx="5116374" cy="2169445"/>
          </a:xfrm>
          <a:prstGeom prst="rect">
            <a:avLst/>
          </a:prstGeom>
          <a:noFill/>
          <a:ln>
            <a:noFill/>
          </a:ln>
        </p:spPr>
      </p:pic>
      <p:sp>
        <p:nvSpPr>
          <p:cNvPr id="188" name="Google Shape;188;p30"/>
          <p:cNvSpPr txBox="1"/>
          <p:nvPr/>
        </p:nvSpPr>
        <p:spPr>
          <a:xfrm>
            <a:off x="5087850" y="650700"/>
            <a:ext cx="4056300" cy="44928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dk2"/>
              </a:buClr>
              <a:buSzPts val="1800"/>
              <a:buChar char="●"/>
            </a:pPr>
            <a:r>
              <a:rPr lang="es-419" sz="1800">
                <a:solidFill>
                  <a:schemeClr val="dk2"/>
                </a:solidFill>
              </a:rPr>
              <a:t>En el primer grafico podemos ver que el salario real de los empleados de servicios es mayor ya que al hacer el shock, el salario real deseado de los empleados de servicios es mayor que el de los empleados de bienes</a:t>
            </a:r>
            <a:endParaRPr sz="1800">
              <a:solidFill>
                <a:schemeClr val="dk2"/>
              </a:solidFill>
            </a:endParaRPr>
          </a:p>
          <a:p>
            <a:pPr indent="-342900" lvl="0" marL="457200" rtl="0" algn="just">
              <a:spcBef>
                <a:spcPts val="0"/>
              </a:spcBef>
              <a:spcAft>
                <a:spcPts val="0"/>
              </a:spcAft>
              <a:buClr>
                <a:schemeClr val="dk2"/>
              </a:buClr>
              <a:buSzPts val="1800"/>
              <a:buChar char="●"/>
            </a:pPr>
            <a:r>
              <a:rPr lang="es-419" sz="1800">
                <a:solidFill>
                  <a:schemeClr val="dk2"/>
                </a:solidFill>
              </a:rPr>
              <a:t>En el segundo </a:t>
            </a:r>
            <a:r>
              <a:rPr lang="es-419" sz="1800">
                <a:solidFill>
                  <a:schemeClr val="dk2"/>
                </a:solidFill>
              </a:rPr>
              <a:t>gráfico</a:t>
            </a:r>
            <a:r>
              <a:rPr lang="es-419" sz="1800">
                <a:solidFill>
                  <a:schemeClr val="dk2"/>
                </a:solidFill>
              </a:rPr>
              <a:t> vemos que el salario de servicio(violeta) crece </a:t>
            </a:r>
            <a:r>
              <a:rPr lang="es-419" sz="1800">
                <a:solidFill>
                  <a:schemeClr val="dk2"/>
                </a:solidFill>
              </a:rPr>
              <a:t>más</a:t>
            </a:r>
            <a:r>
              <a:rPr lang="es-419" sz="1800">
                <a:solidFill>
                  <a:schemeClr val="dk2"/>
                </a:solidFill>
              </a:rPr>
              <a:t> que el salario de bienes(verde) y que los precios de servicios(naranja) crecen </a:t>
            </a:r>
            <a:r>
              <a:rPr lang="es-419" sz="1800">
                <a:solidFill>
                  <a:schemeClr val="dk2"/>
                </a:solidFill>
              </a:rPr>
              <a:t>más</a:t>
            </a:r>
            <a:r>
              <a:rPr lang="es-419" sz="1800">
                <a:solidFill>
                  <a:schemeClr val="dk2"/>
                </a:solidFill>
              </a:rPr>
              <a:t> que los de bienes(fucsia). En ambos casos los agregados quedan entre los dos</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nvSpPr>
        <p:spPr>
          <a:xfrm>
            <a:off x="59050" y="496975"/>
            <a:ext cx="6137400" cy="4572000"/>
          </a:xfrm>
          <a:prstGeom prst="rect">
            <a:avLst/>
          </a:prstGeom>
          <a:noFill/>
          <a:ln>
            <a:noFill/>
          </a:ln>
        </p:spPr>
        <p:txBody>
          <a:bodyPr anchorCtr="0" anchor="t" bIns="45700" lIns="91425" spcFirstLastPara="1" rIns="91425" wrap="square" tIns="45700">
            <a:normAutofit/>
          </a:bodyPr>
          <a:lstStyle/>
          <a:p>
            <a:pPr indent="-209550" lvl="0" marL="228600" rtl="0" algn="l">
              <a:lnSpc>
                <a:spcPct val="80000"/>
              </a:lnSpc>
              <a:spcBef>
                <a:spcPts val="0"/>
              </a:spcBef>
              <a:spcAft>
                <a:spcPts val="0"/>
              </a:spcAft>
              <a:buClr>
                <a:srgbClr val="B7B7B7"/>
              </a:buClr>
              <a:buSzPts val="2600"/>
              <a:buFont typeface="Noto Sans Symbols"/>
              <a:buChar char="▪"/>
            </a:pPr>
            <a:r>
              <a:rPr lang="es-419" sz="2600">
                <a:solidFill>
                  <a:srgbClr val="B7B7B7"/>
                </a:solidFill>
                <a:latin typeface="Calibri"/>
                <a:ea typeface="Calibri"/>
                <a:cs typeface="Calibri"/>
                <a:sym typeface="Calibri"/>
              </a:rPr>
              <a:t>Introducción</a:t>
            </a:r>
            <a:endParaRPr sz="2600">
              <a:solidFill>
                <a:srgbClr val="B7B7B7"/>
              </a:solidFill>
              <a:latin typeface="Calibri"/>
              <a:ea typeface="Calibri"/>
              <a:cs typeface="Calibri"/>
              <a:sym typeface="Calibri"/>
            </a:endParaRPr>
          </a:p>
          <a:p>
            <a:pPr indent="-279400" lvl="1" marL="685800" rtl="0" algn="l">
              <a:lnSpc>
                <a:spcPct val="80000"/>
              </a:lnSpc>
              <a:spcBef>
                <a:spcPts val="0"/>
              </a:spcBef>
              <a:spcAft>
                <a:spcPts val="0"/>
              </a:spcAft>
              <a:buClr>
                <a:srgbClr val="B7B7B7"/>
              </a:buClr>
              <a:buSzPts val="2600"/>
              <a:buFont typeface="Noto Sans Symbols"/>
              <a:buChar char="•"/>
            </a:pPr>
            <a:r>
              <a:rPr lang="es-419" sz="2600">
                <a:solidFill>
                  <a:srgbClr val="B7B7B7"/>
                </a:solidFill>
                <a:latin typeface="Calibri"/>
                <a:ea typeface="Calibri"/>
                <a:cs typeface="Calibri"/>
                <a:sym typeface="Calibri"/>
              </a:rPr>
              <a:t>Explicación del paper</a:t>
            </a:r>
            <a:endParaRPr sz="2600">
              <a:solidFill>
                <a:srgbClr val="B7B7B7"/>
              </a:solidFill>
              <a:latin typeface="Calibri"/>
              <a:ea typeface="Calibri"/>
              <a:cs typeface="Calibri"/>
              <a:sym typeface="Calibri"/>
            </a:endParaRPr>
          </a:p>
          <a:p>
            <a:pPr indent="-279400" lvl="1" marL="685800" rtl="0" algn="l">
              <a:lnSpc>
                <a:spcPct val="80000"/>
              </a:lnSpc>
              <a:spcBef>
                <a:spcPts val="0"/>
              </a:spcBef>
              <a:spcAft>
                <a:spcPts val="0"/>
              </a:spcAft>
              <a:buClr>
                <a:srgbClr val="B7B7B7"/>
              </a:buClr>
              <a:buSzPts val="2600"/>
              <a:buFont typeface="Noto Sans Symbols"/>
              <a:buChar char="•"/>
            </a:pPr>
            <a:r>
              <a:rPr lang="es-419" sz="2600">
                <a:solidFill>
                  <a:srgbClr val="B7B7B7"/>
                </a:solidFill>
                <a:latin typeface="Calibri"/>
                <a:ea typeface="Calibri"/>
                <a:cs typeface="Calibri"/>
                <a:sym typeface="Calibri"/>
              </a:rPr>
              <a:t>Objetivos</a:t>
            </a:r>
            <a:endParaRPr sz="2600">
              <a:solidFill>
                <a:srgbClr val="B7B7B7"/>
              </a:solidFill>
              <a:latin typeface="Calibri"/>
              <a:ea typeface="Calibri"/>
              <a:cs typeface="Calibri"/>
              <a:sym typeface="Calibri"/>
            </a:endParaRPr>
          </a:p>
          <a:p>
            <a:pPr indent="-254000" lvl="1" marL="685800" rtl="0" algn="l">
              <a:lnSpc>
                <a:spcPct val="80000"/>
              </a:lnSpc>
              <a:spcBef>
                <a:spcPts val="500"/>
              </a:spcBef>
              <a:spcAft>
                <a:spcPts val="0"/>
              </a:spcAft>
              <a:buClr>
                <a:srgbClr val="B7B7B7"/>
              </a:buClr>
              <a:buSzPts val="2200"/>
              <a:buFont typeface="Calibri"/>
              <a:buChar char="•"/>
            </a:pPr>
            <a:r>
              <a:rPr lang="es-419" sz="2600">
                <a:solidFill>
                  <a:srgbClr val="B7B7B7"/>
                </a:solidFill>
                <a:latin typeface="Calibri"/>
                <a:ea typeface="Calibri"/>
                <a:cs typeface="Calibri"/>
                <a:sym typeface="Calibri"/>
              </a:rPr>
              <a:t>Pasaje del modelo a modelica</a:t>
            </a:r>
            <a:endParaRPr sz="2600">
              <a:solidFill>
                <a:srgbClr val="B7B7B7"/>
              </a:solidFill>
              <a:latin typeface="Calibri"/>
              <a:ea typeface="Calibri"/>
              <a:cs typeface="Calibri"/>
              <a:sym typeface="Calibri"/>
            </a:endParaRPr>
          </a:p>
          <a:p>
            <a:pPr indent="-279400" lvl="0" marL="228600" rtl="0" algn="l">
              <a:lnSpc>
                <a:spcPct val="80000"/>
              </a:lnSpc>
              <a:spcBef>
                <a:spcPts val="1000"/>
              </a:spcBef>
              <a:spcAft>
                <a:spcPts val="0"/>
              </a:spcAft>
              <a:buClr>
                <a:srgbClr val="000000"/>
              </a:buClr>
              <a:buSzPts val="2600"/>
              <a:buChar char="▪"/>
            </a:pPr>
            <a:r>
              <a:rPr lang="es-419" sz="2600">
                <a:latin typeface="Calibri"/>
                <a:ea typeface="Calibri"/>
                <a:cs typeface="Calibri"/>
                <a:sym typeface="Calibri"/>
              </a:rPr>
              <a:t>Aporte Principal y Desarrollo</a:t>
            </a:r>
            <a:endParaRPr sz="2600">
              <a:solidFill>
                <a:srgbClr val="000000"/>
              </a:solidFill>
              <a:latin typeface="Calibri"/>
              <a:ea typeface="Calibri"/>
              <a:cs typeface="Calibri"/>
              <a:sym typeface="Calibri"/>
            </a:endParaRPr>
          </a:p>
          <a:p>
            <a:pPr indent="-279400" lvl="1" marL="685800" rtl="0" algn="l">
              <a:lnSpc>
                <a:spcPct val="80000"/>
              </a:lnSpc>
              <a:spcBef>
                <a:spcPts val="500"/>
              </a:spcBef>
              <a:spcAft>
                <a:spcPts val="0"/>
              </a:spcAft>
              <a:buClr>
                <a:srgbClr val="B7B7B7"/>
              </a:buClr>
              <a:buSzPts val="2600"/>
              <a:buChar char="•"/>
            </a:pPr>
            <a:r>
              <a:rPr lang="es-419" sz="2600">
                <a:solidFill>
                  <a:srgbClr val="B7B7B7"/>
                </a:solidFill>
                <a:latin typeface="Calibri"/>
                <a:ea typeface="Calibri"/>
                <a:cs typeface="Calibri"/>
                <a:sym typeface="Calibri"/>
              </a:rPr>
              <a:t>Extensión a un 3er Sector </a:t>
            </a:r>
            <a:endParaRPr sz="2600">
              <a:solidFill>
                <a:srgbClr val="B7B7B7"/>
              </a:solidFill>
              <a:latin typeface="Calibri"/>
              <a:ea typeface="Calibri"/>
              <a:cs typeface="Calibri"/>
              <a:sym typeface="Calibri"/>
            </a:endParaRPr>
          </a:p>
          <a:p>
            <a:pPr indent="-279400" lvl="1" marL="685800" rtl="0" algn="l">
              <a:lnSpc>
                <a:spcPct val="80000"/>
              </a:lnSpc>
              <a:spcBef>
                <a:spcPts val="500"/>
              </a:spcBef>
              <a:spcAft>
                <a:spcPts val="0"/>
              </a:spcAft>
              <a:buClr>
                <a:srgbClr val="000000"/>
              </a:buClr>
              <a:buSzPts val="2600"/>
              <a:buChar char="•"/>
            </a:pPr>
            <a:r>
              <a:rPr lang="es-419" sz="2600">
                <a:latin typeface="Calibri"/>
                <a:ea typeface="Calibri"/>
                <a:cs typeface="Calibri"/>
                <a:sym typeface="Calibri"/>
              </a:rPr>
              <a:t>Extension a n Sectores</a:t>
            </a:r>
            <a:endParaRPr sz="2600">
              <a:solidFill>
                <a:srgbClr val="000000"/>
              </a:solidFill>
              <a:latin typeface="Calibri"/>
              <a:ea typeface="Calibri"/>
              <a:cs typeface="Calibri"/>
              <a:sym typeface="Calibri"/>
            </a:endParaRPr>
          </a:p>
          <a:p>
            <a:pPr indent="-279400" lvl="1" marL="685800" rtl="0" algn="l">
              <a:lnSpc>
                <a:spcPct val="80000"/>
              </a:lnSpc>
              <a:spcBef>
                <a:spcPts val="0"/>
              </a:spcBef>
              <a:spcAft>
                <a:spcPts val="0"/>
              </a:spcAft>
              <a:buClr>
                <a:srgbClr val="000000"/>
              </a:buClr>
              <a:buSzPts val="2600"/>
              <a:buChar char="•"/>
            </a:pPr>
            <a:r>
              <a:rPr lang="es-419" sz="2600">
                <a:latin typeface="Calibri"/>
                <a:ea typeface="Calibri"/>
                <a:cs typeface="Calibri"/>
                <a:sym typeface="Calibri"/>
              </a:rPr>
              <a:t>OMSense</a:t>
            </a:r>
            <a:endParaRPr sz="2600">
              <a:solidFill>
                <a:srgbClr val="000000"/>
              </a:solidFill>
              <a:latin typeface="Calibri"/>
              <a:ea typeface="Calibri"/>
              <a:cs typeface="Calibri"/>
              <a:sym typeface="Calibri"/>
            </a:endParaRPr>
          </a:p>
          <a:p>
            <a:pPr indent="-279400" lvl="0" marL="228600" rtl="0" algn="l">
              <a:lnSpc>
                <a:spcPct val="80000"/>
              </a:lnSpc>
              <a:spcBef>
                <a:spcPts val="1000"/>
              </a:spcBef>
              <a:spcAft>
                <a:spcPts val="0"/>
              </a:spcAft>
              <a:buClr>
                <a:srgbClr val="000000"/>
              </a:buClr>
              <a:buSzPts val="2600"/>
              <a:buFont typeface="Noto Sans Symbols"/>
              <a:buChar char="▪"/>
            </a:pPr>
            <a:r>
              <a:rPr lang="es-419" sz="2600">
                <a:solidFill>
                  <a:srgbClr val="000000"/>
                </a:solidFill>
                <a:latin typeface="Calibri"/>
                <a:ea typeface="Calibri"/>
                <a:cs typeface="Calibri"/>
                <a:sym typeface="Calibri"/>
              </a:rPr>
              <a:t>Conclusion</a:t>
            </a:r>
            <a:r>
              <a:rPr lang="es-419" sz="2600">
                <a:latin typeface="Calibri"/>
                <a:ea typeface="Calibri"/>
                <a:cs typeface="Calibri"/>
                <a:sym typeface="Calibri"/>
              </a:rPr>
              <a:t>es y próximos pasos sugeridos</a:t>
            </a:r>
            <a:endParaRPr sz="2600">
              <a:solidFill>
                <a:srgbClr val="00000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type="title"/>
          </p:nvPr>
        </p:nvSpPr>
        <p:spPr>
          <a:xfrm>
            <a:off x="311700" y="976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Expansión</a:t>
            </a:r>
            <a:r>
              <a:rPr lang="es-419"/>
              <a:t> para </a:t>
            </a:r>
            <a:r>
              <a:rPr lang="es-419"/>
              <a:t>más</a:t>
            </a:r>
            <a:r>
              <a:rPr lang="es-419"/>
              <a:t> sectores</a:t>
            </a:r>
            <a:endParaRPr/>
          </a:p>
        </p:txBody>
      </p:sp>
      <p:pic>
        <p:nvPicPr>
          <p:cNvPr id="199" name="Google Shape;199;p32"/>
          <p:cNvPicPr preferRelativeResize="0"/>
          <p:nvPr/>
        </p:nvPicPr>
        <p:blipFill>
          <a:blip r:embed="rId3">
            <a:alphaModFix/>
          </a:blip>
          <a:stretch>
            <a:fillRect/>
          </a:stretch>
        </p:blipFill>
        <p:spPr>
          <a:xfrm>
            <a:off x="152400" y="822750"/>
            <a:ext cx="4142855" cy="4168350"/>
          </a:xfrm>
          <a:prstGeom prst="rect">
            <a:avLst/>
          </a:prstGeom>
          <a:noFill/>
          <a:ln>
            <a:noFill/>
          </a:ln>
        </p:spPr>
      </p:pic>
      <p:sp>
        <p:nvSpPr>
          <p:cNvPr id="200" name="Google Shape;200;p32"/>
          <p:cNvSpPr txBox="1"/>
          <p:nvPr/>
        </p:nvSpPr>
        <p:spPr>
          <a:xfrm>
            <a:off x="4774075" y="818775"/>
            <a:ext cx="4258200" cy="42246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dk2"/>
              </a:buClr>
              <a:buSzPts val="1800"/>
              <a:buChar char="●"/>
            </a:pPr>
            <a:r>
              <a:rPr lang="es-419" sz="1800">
                <a:solidFill>
                  <a:schemeClr val="dk2"/>
                </a:solidFill>
              </a:rPr>
              <a:t>Para agregar </a:t>
            </a:r>
            <a:r>
              <a:rPr lang="es-419" sz="1800">
                <a:solidFill>
                  <a:schemeClr val="dk2"/>
                </a:solidFill>
              </a:rPr>
              <a:t>más</a:t>
            </a:r>
            <a:r>
              <a:rPr lang="es-419" sz="1800">
                <a:solidFill>
                  <a:schemeClr val="dk2"/>
                </a:solidFill>
              </a:rPr>
              <a:t> sectores se le agrega un puerto de compra a cada sector. </a:t>
            </a:r>
            <a:endParaRPr sz="1800">
              <a:solidFill>
                <a:schemeClr val="dk2"/>
              </a:solidFill>
            </a:endParaRPr>
          </a:p>
          <a:p>
            <a:pPr indent="-342900" lvl="0" marL="457200" rtl="0" algn="just">
              <a:spcBef>
                <a:spcPts val="0"/>
              </a:spcBef>
              <a:spcAft>
                <a:spcPts val="0"/>
              </a:spcAft>
              <a:buClr>
                <a:schemeClr val="dk2"/>
              </a:buClr>
              <a:buSzPts val="1800"/>
              <a:buChar char="●"/>
            </a:pPr>
            <a:r>
              <a:rPr lang="es-419" sz="1800">
                <a:solidFill>
                  <a:schemeClr val="dk2"/>
                </a:solidFill>
              </a:rPr>
              <a:t>Esto permite que todos los sectores se </a:t>
            </a:r>
            <a:r>
              <a:rPr lang="es-419" sz="1800">
                <a:solidFill>
                  <a:schemeClr val="dk2"/>
                </a:solidFill>
              </a:rPr>
              <a:t>relacionen</a:t>
            </a:r>
            <a:r>
              <a:rPr lang="es-419" sz="1800">
                <a:solidFill>
                  <a:schemeClr val="dk2"/>
                </a:solidFill>
              </a:rPr>
              <a:t> entre </a:t>
            </a:r>
            <a:r>
              <a:rPr lang="es-419" sz="1800">
                <a:solidFill>
                  <a:schemeClr val="dk2"/>
                </a:solidFill>
              </a:rPr>
              <a:t>sí</a:t>
            </a:r>
            <a:r>
              <a:rPr lang="es-419" sz="1800">
                <a:solidFill>
                  <a:schemeClr val="dk2"/>
                </a:solidFill>
              </a:rPr>
              <a:t>. </a:t>
            </a:r>
            <a:endParaRPr sz="1800">
              <a:solidFill>
                <a:schemeClr val="dk2"/>
              </a:solidFill>
            </a:endParaRPr>
          </a:p>
          <a:p>
            <a:pPr indent="-342900" lvl="0" marL="457200" rtl="0" algn="just">
              <a:spcBef>
                <a:spcPts val="0"/>
              </a:spcBef>
              <a:spcAft>
                <a:spcPts val="0"/>
              </a:spcAft>
              <a:buClr>
                <a:schemeClr val="dk2"/>
              </a:buClr>
              <a:buSzPts val="1800"/>
              <a:buChar char="●"/>
            </a:pPr>
            <a:r>
              <a:rPr lang="es-419" sz="1800">
                <a:solidFill>
                  <a:schemeClr val="dk2"/>
                </a:solidFill>
              </a:rPr>
              <a:t>Además</a:t>
            </a:r>
            <a:r>
              <a:rPr lang="es-419" sz="1800">
                <a:solidFill>
                  <a:schemeClr val="dk2"/>
                </a:solidFill>
              </a:rPr>
              <a:t> se agrega el precio al </a:t>
            </a:r>
            <a:r>
              <a:rPr lang="es-419" sz="1800">
                <a:solidFill>
                  <a:schemeClr val="dk2"/>
                </a:solidFill>
              </a:rPr>
              <a:t>cálculo</a:t>
            </a:r>
            <a:r>
              <a:rPr lang="es-419" sz="1800">
                <a:solidFill>
                  <a:schemeClr val="dk2"/>
                </a:solidFill>
              </a:rPr>
              <a:t> del nivel de precios agregado, lo que impacta en el salario real de los trabajadores de todos los sectores.  </a:t>
            </a:r>
            <a:endParaRPr sz="1800">
              <a:solidFill>
                <a:schemeClr val="dk2"/>
              </a:solidFill>
            </a:endParaRPr>
          </a:p>
          <a:p>
            <a:pPr indent="-342900" lvl="0" marL="457200" rtl="0" algn="just">
              <a:spcBef>
                <a:spcPts val="0"/>
              </a:spcBef>
              <a:spcAft>
                <a:spcPts val="0"/>
              </a:spcAft>
              <a:buClr>
                <a:schemeClr val="dk2"/>
              </a:buClr>
              <a:buSzPts val="1800"/>
              <a:buChar char="●"/>
            </a:pPr>
            <a:r>
              <a:rPr lang="es-419" sz="1800">
                <a:solidFill>
                  <a:schemeClr val="dk2"/>
                </a:solidFill>
              </a:rPr>
              <a:t>También</a:t>
            </a:r>
            <a:r>
              <a:rPr lang="es-419" sz="1800">
                <a:solidFill>
                  <a:schemeClr val="dk2"/>
                </a:solidFill>
              </a:rPr>
              <a:t> se agrega el salario del sector al </a:t>
            </a:r>
            <a:r>
              <a:rPr lang="es-419" sz="1800">
                <a:solidFill>
                  <a:schemeClr val="dk2"/>
                </a:solidFill>
              </a:rPr>
              <a:t>cálculo</a:t>
            </a:r>
            <a:r>
              <a:rPr lang="es-419" sz="1800">
                <a:solidFill>
                  <a:schemeClr val="dk2"/>
                </a:solidFill>
              </a:rPr>
              <a:t> del  salario agregado lo que permite definir el aumento salarial agregado de toda la </a:t>
            </a:r>
            <a:r>
              <a:rPr lang="es-419" sz="1800">
                <a:solidFill>
                  <a:schemeClr val="dk2"/>
                </a:solidFill>
              </a:rPr>
              <a:t>economía</a:t>
            </a:r>
            <a:endParaRPr sz="1800">
              <a:solidFill>
                <a:schemeClr val="dk2"/>
              </a:solidFill>
            </a:endParaRPr>
          </a:p>
        </p:txBody>
      </p:sp>
      <p:cxnSp>
        <p:nvCxnSpPr>
          <p:cNvPr id="201" name="Google Shape;201;p32"/>
          <p:cNvCxnSpPr/>
          <p:nvPr/>
        </p:nvCxnSpPr>
        <p:spPr>
          <a:xfrm>
            <a:off x="257200" y="1542475"/>
            <a:ext cx="274800" cy="0"/>
          </a:xfrm>
          <a:prstGeom prst="straightConnector1">
            <a:avLst/>
          </a:prstGeom>
          <a:noFill/>
          <a:ln cap="flat" cmpd="sng" w="9525">
            <a:solidFill>
              <a:schemeClr val="dk2"/>
            </a:solidFill>
            <a:prstDash val="solid"/>
            <a:round/>
            <a:headEnd len="med" w="med" type="none"/>
            <a:tailEnd len="med" w="med" type="triangle"/>
          </a:ln>
        </p:spPr>
      </p:cxnSp>
      <p:cxnSp>
        <p:nvCxnSpPr>
          <p:cNvPr id="202" name="Google Shape;202;p32"/>
          <p:cNvCxnSpPr/>
          <p:nvPr/>
        </p:nvCxnSpPr>
        <p:spPr>
          <a:xfrm>
            <a:off x="311700" y="1745250"/>
            <a:ext cx="274800" cy="0"/>
          </a:xfrm>
          <a:prstGeom prst="straightConnector1">
            <a:avLst/>
          </a:prstGeom>
          <a:noFill/>
          <a:ln cap="flat" cmpd="sng" w="9525">
            <a:solidFill>
              <a:schemeClr val="dk2"/>
            </a:solidFill>
            <a:prstDash val="solid"/>
            <a:round/>
            <a:headEnd len="med" w="med" type="none"/>
            <a:tailEnd len="med" w="med" type="triangle"/>
          </a:ln>
        </p:spPr>
      </p:cxnSp>
      <p:cxnSp>
        <p:nvCxnSpPr>
          <p:cNvPr id="203" name="Google Shape;203;p32"/>
          <p:cNvCxnSpPr/>
          <p:nvPr/>
        </p:nvCxnSpPr>
        <p:spPr>
          <a:xfrm>
            <a:off x="2343350" y="1705325"/>
            <a:ext cx="274800" cy="0"/>
          </a:xfrm>
          <a:prstGeom prst="straightConnector1">
            <a:avLst/>
          </a:prstGeom>
          <a:noFill/>
          <a:ln cap="flat" cmpd="sng" w="9525">
            <a:solidFill>
              <a:schemeClr val="dk2"/>
            </a:solidFill>
            <a:prstDash val="solid"/>
            <a:round/>
            <a:headEnd len="med" w="med" type="none"/>
            <a:tailEnd len="med" w="med" type="triangle"/>
          </a:ln>
        </p:spPr>
      </p:cxnSp>
      <p:cxnSp>
        <p:nvCxnSpPr>
          <p:cNvPr id="204" name="Google Shape;204;p32"/>
          <p:cNvCxnSpPr/>
          <p:nvPr/>
        </p:nvCxnSpPr>
        <p:spPr>
          <a:xfrm>
            <a:off x="2312575" y="1500550"/>
            <a:ext cx="274800" cy="0"/>
          </a:xfrm>
          <a:prstGeom prst="straightConnector1">
            <a:avLst/>
          </a:prstGeom>
          <a:noFill/>
          <a:ln cap="flat" cmpd="sng" w="9525">
            <a:solidFill>
              <a:schemeClr val="dk2"/>
            </a:solidFill>
            <a:prstDash val="solid"/>
            <a:round/>
            <a:headEnd len="med" w="med" type="none"/>
            <a:tailEnd len="med" w="med" type="triangle"/>
          </a:ln>
        </p:spPr>
      </p:cxnSp>
      <p:cxnSp>
        <p:nvCxnSpPr>
          <p:cNvPr id="205" name="Google Shape;205;p32"/>
          <p:cNvCxnSpPr/>
          <p:nvPr/>
        </p:nvCxnSpPr>
        <p:spPr>
          <a:xfrm>
            <a:off x="1301825" y="3283150"/>
            <a:ext cx="274800" cy="0"/>
          </a:xfrm>
          <a:prstGeom prst="straightConnector1">
            <a:avLst/>
          </a:prstGeom>
          <a:noFill/>
          <a:ln cap="flat" cmpd="sng" w="9525">
            <a:solidFill>
              <a:schemeClr val="dk2"/>
            </a:solidFill>
            <a:prstDash val="solid"/>
            <a:round/>
            <a:headEnd len="med" w="med" type="none"/>
            <a:tailEnd len="med" w="med" type="triangle"/>
          </a:ln>
        </p:spPr>
      </p:cxnSp>
      <p:cxnSp>
        <p:nvCxnSpPr>
          <p:cNvPr id="206" name="Google Shape;206;p32"/>
          <p:cNvCxnSpPr/>
          <p:nvPr/>
        </p:nvCxnSpPr>
        <p:spPr>
          <a:xfrm>
            <a:off x="1271050" y="3485925"/>
            <a:ext cx="2748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nvSpPr>
        <p:spPr>
          <a:xfrm>
            <a:off x="67600" y="45575"/>
            <a:ext cx="8908800" cy="71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2500">
                <a:solidFill>
                  <a:schemeClr val="dk2"/>
                </a:solidFill>
              </a:rPr>
              <a:t>Caso shock </a:t>
            </a:r>
            <a:r>
              <a:rPr lang="es-419" sz="2500">
                <a:solidFill>
                  <a:schemeClr val="dk2"/>
                </a:solidFill>
              </a:rPr>
              <a:t>energético</a:t>
            </a:r>
            <a:r>
              <a:rPr lang="es-419" sz="2500">
                <a:solidFill>
                  <a:schemeClr val="dk2"/>
                </a:solidFill>
              </a:rPr>
              <a:t> agregando agricultura</a:t>
            </a:r>
            <a:endParaRPr sz="2500">
              <a:solidFill>
                <a:schemeClr val="dk2"/>
              </a:solidFill>
            </a:endParaRPr>
          </a:p>
        </p:txBody>
      </p:sp>
      <p:pic>
        <p:nvPicPr>
          <p:cNvPr id="212" name="Google Shape;212;p33"/>
          <p:cNvPicPr preferRelativeResize="0"/>
          <p:nvPr/>
        </p:nvPicPr>
        <p:blipFill>
          <a:blip r:embed="rId3">
            <a:alphaModFix/>
          </a:blip>
          <a:stretch>
            <a:fillRect/>
          </a:stretch>
        </p:blipFill>
        <p:spPr>
          <a:xfrm>
            <a:off x="0" y="3076575"/>
            <a:ext cx="4974927" cy="2066925"/>
          </a:xfrm>
          <a:prstGeom prst="rect">
            <a:avLst/>
          </a:prstGeom>
          <a:noFill/>
          <a:ln>
            <a:noFill/>
          </a:ln>
        </p:spPr>
      </p:pic>
      <p:pic>
        <p:nvPicPr>
          <p:cNvPr id="213" name="Google Shape;213;p33"/>
          <p:cNvPicPr preferRelativeResize="0"/>
          <p:nvPr/>
        </p:nvPicPr>
        <p:blipFill>
          <a:blip r:embed="rId4">
            <a:alphaModFix/>
          </a:blip>
          <a:stretch>
            <a:fillRect/>
          </a:stretch>
        </p:blipFill>
        <p:spPr>
          <a:xfrm>
            <a:off x="67600" y="657550"/>
            <a:ext cx="4907324" cy="2386156"/>
          </a:xfrm>
          <a:prstGeom prst="rect">
            <a:avLst/>
          </a:prstGeom>
          <a:noFill/>
          <a:ln>
            <a:noFill/>
          </a:ln>
        </p:spPr>
      </p:pic>
      <p:pic>
        <p:nvPicPr>
          <p:cNvPr id="214" name="Google Shape;214;p33"/>
          <p:cNvPicPr preferRelativeResize="0"/>
          <p:nvPr/>
        </p:nvPicPr>
        <p:blipFill>
          <a:blip r:embed="rId5">
            <a:alphaModFix/>
          </a:blip>
          <a:stretch>
            <a:fillRect/>
          </a:stretch>
        </p:blipFill>
        <p:spPr>
          <a:xfrm>
            <a:off x="4974925" y="3076575"/>
            <a:ext cx="4169074" cy="2066925"/>
          </a:xfrm>
          <a:prstGeom prst="rect">
            <a:avLst/>
          </a:prstGeom>
          <a:noFill/>
          <a:ln>
            <a:noFill/>
          </a:ln>
        </p:spPr>
      </p:pic>
      <p:sp>
        <p:nvSpPr>
          <p:cNvPr id="215" name="Google Shape;215;p33"/>
          <p:cNvSpPr txBox="1"/>
          <p:nvPr/>
        </p:nvSpPr>
        <p:spPr>
          <a:xfrm>
            <a:off x="5138013" y="657550"/>
            <a:ext cx="3910500" cy="23250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dk2"/>
              </a:buClr>
              <a:buSzPts val="1800"/>
              <a:buChar char="●"/>
            </a:pPr>
            <a:r>
              <a:rPr lang="es-419" sz="1800">
                <a:solidFill>
                  <a:schemeClr val="dk2"/>
                </a:solidFill>
              </a:rPr>
              <a:t>Vemos que se replican los resultados agregando un sector </a:t>
            </a:r>
            <a:r>
              <a:rPr lang="es-419" sz="1800">
                <a:solidFill>
                  <a:schemeClr val="dk2"/>
                </a:solidFill>
              </a:rPr>
              <a:t>más</a:t>
            </a:r>
            <a:r>
              <a:rPr lang="es-419" sz="1800">
                <a:solidFill>
                  <a:schemeClr val="dk2"/>
                </a:solidFill>
              </a:rPr>
              <a:t> en este caso agricultura con un consumo </a:t>
            </a:r>
            <a:r>
              <a:rPr lang="es-419" sz="1800">
                <a:solidFill>
                  <a:schemeClr val="dk2"/>
                </a:solidFill>
              </a:rPr>
              <a:t>energético</a:t>
            </a:r>
            <a:r>
              <a:rPr lang="es-419" sz="1800">
                <a:solidFill>
                  <a:schemeClr val="dk2"/>
                </a:solidFill>
              </a:rPr>
              <a:t> intermedio entre bienes y servicios y un salario real deseado </a:t>
            </a:r>
            <a:r>
              <a:rPr lang="es-419" sz="1800">
                <a:solidFill>
                  <a:schemeClr val="dk2"/>
                </a:solidFill>
              </a:rPr>
              <a:t>más</a:t>
            </a:r>
            <a:r>
              <a:rPr lang="es-419" sz="1800">
                <a:solidFill>
                  <a:schemeClr val="dk2"/>
                </a:solidFill>
              </a:rPr>
              <a:t> bajo que ambos</a:t>
            </a: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4"/>
          <p:cNvSpPr txBox="1"/>
          <p:nvPr/>
        </p:nvSpPr>
        <p:spPr>
          <a:xfrm>
            <a:off x="59050" y="496975"/>
            <a:ext cx="6137400" cy="4572000"/>
          </a:xfrm>
          <a:prstGeom prst="rect">
            <a:avLst/>
          </a:prstGeom>
          <a:noFill/>
          <a:ln>
            <a:noFill/>
          </a:ln>
        </p:spPr>
        <p:txBody>
          <a:bodyPr anchorCtr="0" anchor="t" bIns="45700" lIns="91425" spcFirstLastPara="1" rIns="91425" wrap="square" tIns="45700">
            <a:normAutofit/>
          </a:bodyPr>
          <a:lstStyle/>
          <a:p>
            <a:pPr indent="-209550" lvl="0" marL="228600" rtl="0" algn="l">
              <a:lnSpc>
                <a:spcPct val="80000"/>
              </a:lnSpc>
              <a:spcBef>
                <a:spcPts val="0"/>
              </a:spcBef>
              <a:spcAft>
                <a:spcPts val="0"/>
              </a:spcAft>
              <a:buClr>
                <a:srgbClr val="B7B7B7"/>
              </a:buClr>
              <a:buSzPts val="2600"/>
              <a:buFont typeface="Noto Sans Symbols"/>
              <a:buChar char="▪"/>
            </a:pPr>
            <a:r>
              <a:rPr lang="es-419" sz="2600">
                <a:solidFill>
                  <a:srgbClr val="B7B7B7"/>
                </a:solidFill>
                <a:latin typeface="Calibri"/>
                <a:ea typeface="Calibri"/>
                <a:cs typeface="Calibri"/>
                <a:sym typeface="Calibri"/>
              </a:rPr>
              <a:t>Introducción</a:t>
            </a:r>
            <a:endParaRPr sz="2600">
              <a:solidFill>
                <a:srgbClr val="B7B7B7"/>
              </a:solidFill>
              <a:latin typeface="Calibri"/>
              <a:ea typeface="Calibri"/>
              <a:cs typeface="Calibri"/>
              <a:sym typeface="Calibri"/>
            </a:endParaRPr>
          </a:p>
          <a:p>
            <a:pPr indent="-279400" lvl="1" marL="685800" rtl="0" algn="l">
              <a:lnSpc>
                <a:spcPct val="80000"/>
              </a:lnSpc>
              <a:spcBef>
                <a:spcPts val="0"/>
              </a:spcBef>
              <a:spcAft>
                <a:spcPts val="0"/>
              </a:spcAft>
              <a:buClr>
                <a:srgbClr val="B7B7B7"/>
              </a:buClr>
              <a:buSzPts val="2600"/>
              <a:buFont typeface="Noto Sans Symbols"/>
              <a:buChar char="•"/>
            </a:pPr>
            <a:r>
              <a:rPr lang="es-419" sz="2600">
                <a:solidFill>
                  <a:srgbClr val="B7B7B7"/>
                </a:solidFill>
                <a:latin typeface="Calibri"/>
                <a:ea typeface="Calibri"/>
                <a:cs typeface="Calibri"/>
                <a:sym typeface="Calibri"/>
              </a:rPr>
              <a:t>Explicación del paper</a:t>
            </a:r>
            <a:endParaRPr sz="2600">
              <a:solidFill>
                <a:srgbClr val="B7B7B7"/>
              </a:solidFill>
              <a:latin typeface="Calibri"/>
              <a:ea typeface="Calibri"/>
              <a:cs typeface="Calibri"/>
              <a:sym typeface="Calibri"/>
            </a:endParaRPr>
          </a:p>
          <a:p>
            <a:pPr indent="-279400" lvl="1" marL="685800" rtl="0" algn="l">
              <a:lnSpc>
                <a:spcPct val="80000"/>
              </a:lnSpc>
              <a:spcBef>
                <a:spcPts val="0"/>
              </a:spcBef>
              <a:spcAft>
                <a:spcPts val="0"/>
              </a:spcAft>
              <a:buClr>
                <a:srgbClr val="B7B7B7"/>
              </a:buClr>
              <a:buSzPts val="2600"/>
              <a:buFont typeface="Noto Sans Symbols"/>
              <a:buChar char="•"/>
            </a:pPr>
            <a:r>
              <a:rPr lang="es-419" sz="2600">
                <a:solidFill>
                  <a:srgbClr val="B7B7B7"/>
                </a:solidFill>
                <a:latin typeface="Calibri"/>
                <a:ea typeface="Calibri"/>
                <a:cs typeface="Calibri"/>
                <a:sym typeface="Calibri"/>
              </a:rPr>
              <a:t>Objetivos</a:t>
            </a:r>
            <a:endParaRPr sz="2600">
              <a:solidFill>
                <a:srgbClr val="B7B7B7"/>
              </a:solidFill>
              <a:latin typeface="Calibri"/>
              <a:ea typeface="Calibri"/>
              <a:cs typeface="Calibri"/>
              <a:sym typeface="Calibri"/>
            </a:endParaRPr>
          </a:p>
          <a:p>
            <a:pPr indent="-254000" lvl="1" marL="685800" rtl="0" algn="l">
              <a:lnSpc>
                <a:spcPct val="80000"/>
              </a:lnSpc>
              <a:spcBef>
                <a:spcPts val="500"/>
              </a:spcBef>
              <a:spcAft>
                <a:spcPts val="0"/>
              </a:spcAft>
              <a:buClr>
                <a:srgbClr val="B7B7B7"/>
              </a:buClr>
              <a:buSzPts val="2200"/>
              <a:buFont typeface="Calibri"/>
              <a:buChar char="•"/>
            </a:pPr>
            <a:r>
              <a:rPr lang="es-419" sz="2600">
                <a:solidFill>
                  <a:srgbClr val="B7B7B7"/>
                </a:solidFill>
                <a:latin typeface="Calibri"/>
                <a:ea typeface="Calibri"/>
                <a:cs typeface="Calibri"/>
                <a:sym typeface="Calibri"/>
              </a:rPr>
              <a:t>Pasaje del modelo a modelica</a:t>
            </a:r>
            <a:endParaRPr sz="2600">
              <a:solidFill>
                <a:srgbClr val="B7B7B7"/>
              </a:solidFill>
              <a:latin typeface="Calibri"/>
              <a:ea typeface="Calibri"/>
              <a:cs typeface="Calibri"/>
              <a:sym typeface="Calibri"/>
            </a:endParaRPr>
          </a:p>
          <a:p>
            <a:pPr indent="-279400" lvl="0" marL="228600" rtl="0" algn="l">
              <a:lnSpc>
                <a:spcPct val="80000"/>
              </a:lnSpc>
              <a:spcBef>
                <a:spcPts val="1000"/>
              </a:spcBef>
              <a:spcAft>
                <a:spcPts val="0"/>
              </a:spcAft>
              <a:buClr>
                <a:srgbClr val="000000"/>
              </a:buClr>
              <a:buSzPts val="2600"/>
              <a:buChar char="▪"/>
            </a:pPr>
            <a:r>
              <a:rPr lang="es-419" sz="2600">
                <a:latin typeface="Calibri"/>
                <a:ea typeface="Calibri"/>
                <a:cs typeface="Calibri"/>
                <a:sym typeface="Calibri"/>
              </a:rPr>
              <a:t>Aporte Principal y Desarrollo</a:t>
            </a:r>
            <a:endParaRPr sz="2600">
              <a:solidFill>
                <a:srgbClr val="000000"/>
              </a:solidFill>
              <a:latin typeface="Calibri"/>
              <a:ea typeface="Calibri"/>
              <a:cs typeface="Calibri"/>
              <a:sym typeface="Calibri"/>
            </a:endParaRPr>
          </a:p>
          <a:p>
            <a:pPr indent="-279400" lvl="1" marL="685800" rtl="0" algn="l">
              <a:lnSpc>
                <a:spcPct val="80000"/>
              </a:lnSpc>
              <a:spcBef>
                <a:spcPts val="500"/>
              </a:spcBef>
              <a:spcAft>
                <a:spcPts val="0"/>
              </a:spcAft>
              <a:buClr>
                <a:srgbClr val="B7B7B7"/>
              </a:buClr>
              <a:buSzPts val="2600"/>
              <a:buChar char="•"/>
            </a:pPr>
            <a:r>
              <a:rPr lang="es-419" sz="2600">
                <a:solidFill>
                  <a:srgbClr val="B7B7B7"/>
                </a:solidFill>
                <a:latin typeface="Calibri"/>
                <a:ea typeface="Calibri"/>
                <a:cs typeface="Calibri"/>
                <a:sym typeface="Calibri"/>
              </a:rPr>
              <a:t>Extensión a un 3er Sector </a:t>
            </a:r>
            <a:endParaRPr sz="2600">
              <a:solidFill>
                <a:srgbClr val="B7B7B7"/>
              </a:solidFill>
              <a:latin typeface="Calibri"/>
              <a:ea typeface="Calibri"/>
              <a:cs typeface="Calibri"/>
              <a:sym typeface="Calibri"/>
            </a:endParaRPr>
          </a:p>
          <a:p>
            <a:pPr indent="-279400" lvl="1" marL="685800" rtl="0" algn="l">
              <a:lnSpc>
                <a:spcPct val="80000"/>
              </a:lnSpc>
              <a:spcBef>
                <a:spcPts val="500"/>
              </a:spcBef>
              <a:spcAft>
                <a:spcPts val="0"/>
              </a:spcAft>
              <a:buClr>
                <a:srgbClr val="B7B7B7"/>
              </a:buClr>
              <a:buSzPts val="2600"/>
              <a:buChar char="•"/>
            </a:pPr>
            <a:r>
              <a:rPr lang="es-419" sz="2600">
                <a:solidFill>
                  <a:srgbClr val="B7B7B7"/>
                </a:solidFill>
                <a:latin typeface="Calibri"/>
                <a:ea typeface="Calibri"/>
                <a:cs typeface="Calibri"/>
                <a:sym typeface="Calibri"/>
              </a:rPr>
              <a:t>Extension a n Sectores</a:t>
            </a:r>
            <a:endParaRPr sz="2600">
              <a:solidFill>
                <a:srgbClr val="B7B7B7"/>
              </a:solidFill>
              <a:latin typeface="Calibri"/>
              <a:ea typeface="Calibri"/>
              <a:cs typeface="Calibri"/>
              <a:sym typeface="Calibri"/>
            </a:endParaRPr>
          </a:p>
          <a:p>
            <a:pPr indent="-279400" lvl="1" marL="685800" rtl="0" algn="l">
              <a:lnSpc>
                <a:spcPct val="80000"/>
              </a:lnSpc>
              <a:spcBef>
                <a:spcPts val="0"/>
              </a:spcBef>
              <a:spcAft>
                <a:spcPts val="0"/>
              </a:spcAft>
              <a:buClr>
                <a:srgbClr val="000000"/>
              </a:buClr>
              <a:buSzPts val="2600"/>
              <a:buChar char="•"/>
            </a:pPr>
            <a:r>
              <a:rPr lang="es-419" sz="2600">
                <a:latin typeface="Calibri"/>
                <a:ea typeface="Calibri"/>
                <a:cs typeface="Calibri"/>
                <a:sym typeface="Calibri"/>
              </a:rPr>
              <a:t>OMSense</a:t>
            </a:r>
            <a:endParaRPr sz="2600">
              <a:solidFill>
                <a:srgbClr val="000000"/>
              </a:solidFill>
              <a:latin typeface="Calibri"/>
              <a:ea typeface="Calibri"/>
              <a:cs typeface="Calibri"/>
              <a:sym typeface="Calibri"/>
            </a:endParaRPr>
          </a:p>
          <a:p>
            <a:pPr indent="-279400" lvl="0" marL="228600" rtl="0" algn="l">
              <a:lnSpc>
                <a:spcPct val="80000"/>
              </a:lnSpc>
              <a:spcBef>
                <a:spcPts val="1000"/>
              </a:spcBef>
              <a:spcAft>
                <a:spcPts val="0"/>
              </a:spcAft>
              <a:buClr>
                <a:srgbClr val="000000"/>
              </a:buClr>
              <a:buSzPts val="2600"/>
              <a:buFont typeface="Noto Sans Symbols"/>
              <a:buChar char="▪"/>
            </a:pPr>
            <a:r>
              <a:rPr lang="es-419" sz="2600">
                <a:solidFill>
                  <a:srgbClr val="000000"/>
                </a:solidFill>
                <a:latin typeface="Calibri"/>
                <a:ea typeface="Calibri"/>
                <a:cs typeface="Calibri"/>
                <a:sym typeface="Calibri"/>
              </a:rPr>
              <a:t>Conclusion</a:t>
            </a:r>
            <a:r>
              <a:rPr lang="es-419" sz="2600">
                <a:latin typeface="Calibri"/>
                <a:ea typeface="Calibri"/>
                <a:cs typeface="Calibri"/>
                <a:sym typeface="Calibri"/>
              </a:rPr>
              <a:t>es y próximos pasos sugeridos</a:t>
            </a:r>
            <a:endParaRPr sz="2600">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5"/>
          <p:cNvSpPr txBox="1"/>
          <p:nvPr>
            <p:ph type="title"/>
          </p:nvPr>
        </p:nvSpPr>
        <p:spPr>
          <a:xfrm>
            <a:off x="311700" y="14333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OMSens</a:t>
            </a:r>
            <a:endParaRPr/>
          </a:p>
        </p:txBody>
      </p:sp>
      <p:sp>
        <p:nvSpPr>
          <p:cNvPr id="226" name="Google Shape;226;p35"/>
          <p:cNvSpPr txBox="1"/>
          <p:nvPr/>
        </p:nvSpPr>
        <p:spPr>
          <a:xfrm>
            <a:off x="810150" y="2430575"/>
            <a:ext cx="7523700" cy="872700"/>
          </a:xfrm>
          <a:prstGeom prst="rect">
            <a:avLst/>
          </a:prstGeom>
          <a:noFill/>
          <a:ln>
            <a:noFill/>
          </a:ln>
        </p:spPr>
        <p:txBody>
          <a:bodyPr anchorCtr="0" anchor="t" bIns="91425" lIns="91425" spcFirstLastPara="1" rIns="91425" wrap="square" tIns="91425">
            <a:spAutoFit/>
          </a:bodyPr>
          <a:lstStyle/>
          <a:p>
            <a:pPr indent="0" lvl="0" marL="0" rtl="0" algn="ctr">
              <a:lnSpc>
                <a:spcPct val="95000"/>
              </a:lnSpc>
              <a:spcBef>
                <a:spcPts val="1200"/>
              </a:spcBef>
              <a:spcAft>
                <a:spcPts val="1200"/>
              </a:spcAft>
              <a:buNone/>
            </a:pPr>
            <a:r>
              <a:rPr i="1" lang="es-419" sz="2235">
                <a:solidFill>
                  <a:schemeClr val="dk1"/>
                </a:solidFill>
              </a:rPr>
              <a:t>Medimos la sensibilidad estructural de nuestro modelo con shocks energéticos y conflicto distributivo.</a:t>
            </a:r>
            <a:endParaRPr i="1" sz="2235">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6"/>
          <p:cNvSpPr txBox="1"/>
          <p:nvPr>
            <p:ph type="title"/>
          </p:nvPr>
        </p:nvSpPr>
        <p:spPr>
          <a:xfrm>
            <a:off x="311700" y="324000"/>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200"/>
              </a:spcBef>
              <a:spcAft>
                <a:spcPts val="0"/>
              </a:spcAft>
              <a:buSzPts val="990"/>
              <a:buNone/>
            </a:pPr>
            <a:r>
              <a:rPr lang="es-419" sz="1790"/>
              <a:t> </a:t>
            </a:r>
            <a:r>
              <a:rPr i="1" lang="es-419" sz="1700">
                <a:solidFill>
                  <a:srgbClr val="0A0A0A"/>
                </a:solidFill>
                <a:highlight>
                  <a:srgbClr val="FFFFFF"/>
                </a:highlight>
              </a:rPr>
              <a:t>¿</a:t>
            </a:r>
            <a:r>
              <a:rPr i="1" lang="es-419" sz="1790"/>
              <a:t>Por qué</a:t>
            </a:r>
            <a:r>
              <a:rPr i="1" lang="es-419" sz="1700">
                <a:solidFill>
                  <a:srgbClr val="0A0A0A"/>
                </a:solidFill>
                <a:highlight>
                  <a:srgbClr val="FFFFFF"/>
                </a:highlight>
              </a:rPr>
              <a:t>?</a:t>
            </a:r>
            <a:r>
              <a:rPr i="1" lang="es-419" sz="1790"/>
              <a:t> </a:t>
            </a:r>
            <a:endParaRPr i="1" sz="1790"/>
          </a:p>
          <a:p>
            <a:pPr indent="0" lvl="0" marL="0" rtl="0" algn="l">
              <a:spcBef>
                <a:spcPts val="1200"/>
              </a:spcBef>
              <a:spcAft>
                <a:spcPts val="0"/>
              </a:spcAft>
              <a:buSzPts val="990"/>
              <a:buNone/>
            </a:pPr>
            <a:r>
              <a:t/>
            </a:r>
            <a:endParaRPr sz="2520"/>
          </a:p>
        </p:txBody>
      </p:sp>
      <p:sp>
        <p:nvSpPr>
          <p:cNvPr id="232" name="Google Shape;232;p36"/>
          <p:cNvSpPr txBox="1"/>
          <p:nvPr>
            <p:ph idx="1" type="body"/>
          </p:nvPr>
        </p:nvSpPr>
        <p:spPr>
          <a:xfrm>
            <a:off x="311700" y="896700"/>
            <a:ext cx="8520600" cy="3454200"/>
          </a:xfrm>
          <a:prstGeom prst="rect">
            <a:avLst/>
          </a:prstGeom>
        </p:spPr>
        <p:txBody>
          <a:bodyPr anchorCtr="0" anchor="t" bIns="91425" lIns="91425" spcFirstLastPara="1" rIns="91425" wrap="square" tIns="91425">
            <a:noAutofit/>
          </a:bodyPr>
          <a:lstStyle/>
          <a:p>
            <a:pPr indent="-336550" lvl="0" marL="457200" rtl="0" algn="l">
              <a:spcBef>
                <a:spcPts val="1200"/>
              </a:spcBef>
              <a:spcAft>
                <a:spcPts val="0"/>
              </a:spcAft>
              <a:buClr>
                <a:schemeClr val="dk1"/>
              </a:buClr>
              <a:buSzPts val="1700"/>
              <a:buChar char="-"/>
            </a:pPr>
            <a:r>
              <a:rPr lang="es-419" sz="1700">
                <a:solidFill>
                  <a:schemeClr val="dk1"/>
                </a:solidFill>
              </a:rPr>
              <a:t>El modelo manifiesta la interacción entre shocks energéticos, formación de precios, ajuste salarial y conflicto distributivo. </a:t>
            </a:r>
            <a:endParaRPr sz="1700">
              <a:solidFill>
                <a:schemeClr val="dk1"/>
              </a:solidFill>
            </a:endParaRPr>
          </a:p>
          <a:p>
            <a:pPr indent="-336550" lvl="0" marL="457200" rtl="0" algn="l">
              <a:spcBef>
                <a:spcPts val="0"/>
              </a:spcBef>
              <a:spcAft>
                <a:spcPts val="0"/>
              </a:spcAft>
              <a:buClr>
                <a:schemeClr val="dk1"/>
              </a:buClr>
              <a:buSzPts val="1700"/>
              <a:buChar char="-"/>
            </a:pPr>
            <a:r>
              <a:rPr lang="es-419" sz="1700">
                <a:solidFill>
                  <a:schemeClr val="dk1"/>
                </a:solidFill>
              </a:rPr>
              <a:t>La energía altera costos marginales y por ende afecta a la inflación y la distribución entre salarios y ganancia.</a:t>
            </a:r>
            <a:endParaRPr sz="1700">
              <a:solidFill>
                <a:schemeClr val="dk1"/>
              </a:solidFill>
            </a:endParaRPr>
          </a:p>
          <a:p>
            <a:pPr indent="-336550" lvl="0" marL="457200" rtl="0" algn="l">
              <a:spcBef>
                <a:spcPts val="0"/>
              </a:spcBef>
              <a:spcAft>
                <a:spcPts val="0"/>
              </a:spcAft>
              <a:buClr>
                <a:schemeClr val="dk1"/>
              </a:buClr>
              <a:buSzPts val="1700"/>
              <a:buChar char="-"/>
            </a:pPr>
            <a:r>
              <a:rPr lang="es-419" sz="1700">
                <a:solidFill>
                  <a:schemeClr val="dk1"/>
                </a:solidFill>
              </a:rPr>
              <a:t>La inflación depende de </a:t>
            </a:r>
            <a:r>
              <a:rPr b="1" lang="es-419" sz="1700">
                <a:solidFill>
                  <a:schemeClr val="dk1"/>
                </a:solidFill>
              </a:rPr>
              <a:t>phi</a:t>
            </a:r>
            <a:r>
              <a:rPr lang="es-419" sz="1700">
                <a:solidFill>
                  <a:schemeClr val="dk1"/>
                </a:solidFill>
              </a:rPr>
              <a:t> </a:t>
            </a:r>
            <a:r>
              <a:rPr lang="es-419" sz="1100">
                <a:solidFill>
                  <a:schemeClr val="dk1"/>
                </a:solidFill>
              </a:rPr>
              <a:t>(cómo ajustan las empresas los </a:t>
            </a:r>
            <a:r>
              <a:rPr lang="es-419" sz="1100">
                <a:solidFill>
                  <a:schemeClr val="dk1"/>
                </a:solidFill>
              </a:rPr>
              <a:t>precios </a:t>
            </a:r>
            <a:r>
              <a:rPr lang="es-419" sz="1100">
                <a:solidFill>
                  <a:schemeClr val="dk1"/>
                </a:solidFill>
              </a:rPr>
              <a:t>ante cambios en costos o conflictos distributivos)</a:t>
            </a:r>
            <a:r>
              <a:rPr lang="es-419" sz="1700">
                <a:solidFill>
                  <a:schemeClr val="dk1"/>
                </a:solidFill>
              </a:rPr>
              <a:t>, </a:t>
            </a:r>
            <a:r>
              <a:rPr b="1" lang="es-419" sz="1700">
                <a:solidFill>
                  <a:schemeClr val="dk1"/>
                </a:solidFill>
              </a:rPr>
              <a:t>psi </a:t>
            </a:r>
            <a:r>
              <a:rPr lang="es-419" sz="1100">
                <a:solidFill>
                  <a:schemeClr val="dk1"/>
                </a:solidFill>
              </a:rPr>
              <a:t>(cuán fuertemente los trabajadores reclaman recomponer el salario real tras un shock)</a:t>
            </a:r>
            <a:r>
              <a:rPr lang="es-419" sz="1700">
                <a:solidFill>
                  <a:schemeClr val="dk1"/>
                </a:solidFill>
              </a:rPr>
              <a:t> y </a:t>
            </a:r>
            <a:r>
              <a:rPr b="1" lang="es-419" sz="1700">
                <a:solidFill>
                  <a:schemeClr val="dk1"/>
                </a:solidFill>
              </a:rPr>
              <a:t>delta</a:t>
            </a:r>
            <a:r>
              <a:rPr lang="es-419" sz="1700">
                <a:solidFill>
                  <a:schemeClr val="dk1"/>
                </a:solidFill>
              </a:rPr>
              <a:t> </a:t>
            </a:r>
            <a:r>
              <a:rPr lang="es-419" sz="1100">
                <a:solidFill>
                  <a:schemeClr val="dk1"/>
                </a:solidFill>
              </a:rPr>
              <a:t>(qué proporción del costo marginal depende de la energía)</a:t>
            </a:r>
            <a:r>
              <a:rPr lang="es-419" sz="1700">
                <a:solidFill>
                  <a:schemeClr val="dk1"/>
                </a:solidFill>
              </a:rPr>
              <a:t>.</a:t>
            </a:r>
            <a:endParaRPr sz="1700">
              <a:solidFill>
                <a:schemeClr val="dk1"/>
              </a:solidFill>
            </a:endParaRPr>
          </a:p>
          <a:p>
            <a:pPr indent="-336550" lvl="0" marL="457200" rtl="0" algn="l">
              <a:spcBef>
                <a:spcPts val="0"/>
              </a:spcBef>
              <a:spcAft>
                <a:spcPts val="0"/>
              </a:spcAft>
              <a:buClr>
                <a:schemeClr val="dk1"/>
              </a:buClr>
              <a:buSzPts val="1700"/>
              <a:buChar char="-"/>
            </a:pPr>
            <a:r>
              <a:rPr lang="es-419" sz="1700">
                <a:solidFill>
                  <a:schemeClr val="dk1"/>
                </a:solidFill>
              </a:rPr>
              <a:t>Queremos ver qué tan robustas son las curvas del modelo ante variaciones pequeñas (</a:t>
            </a:r>
            <a:r>
              <a:rPr lang="es-419" sz="2000">
                <a:solidFill>
                  <a:schemeClr val="dk1"/>
                </a:solidFill>
              </a:rPr>
              <a:t>±</a:t>
            </a:r>
            <a:r>
              <a:rPr lang="es-419" sz="1700">
                <a:solidFill>
                  <a:schemeClr val="dk1"/>
                </a:solidFill>
              </a:rPr>
              <a:t>20% del valor base).</a:t>
            </a:r>
            <a:endParaRPr sz="1700">
              <a:solidFill>
                <a:schemeClr val="dk1"/>
              </a:solidFill>
            </a:endParaRPr>
          </a:p>
          <a:p>
            <a:pPr indent="0" lvl="0" marL="0" rtl="0" algn="ctr">
              <a:spcBef>
                <a:spcPts val="1200"/>
              </a:spcBef>
              <a:spcAft>
                <a:spcPts val="0"/>
              </a:spcAft>
              <a:buNone/>
            </a:pPr>
            <a:r>
              <a:rPr b="1" lang="es-419" sz="1700">
                <a:solidFill>
                  <a:schemeClr val="dk1"/>
                </a:solidFill>
              </a:rPr>
              <a:t>Veremos </a:t>
            </a:r>
            <a:r>
              <a:rPr b="1" lang="es-419" sz="1700">
                <a:solidFill>
                  <a:schemeClr val="dk1"/>
                </a:solidFill>
              </a:rPr>
              <a:t>cómo difieren los efectos de shocks energéticos transitorios vs. permanentes, </a:t>
            </a:r>
            <a:r>
              <a:rPr b="1" lang="es-419" sz="1700">
                <a:solidFill>
                  <a:schemeClr val="dk1"/>
                </a:solidFill>
              </a:rPr>
              <a:t>y cómo lo modulan nuestras tres variables</a:t>
            </a:r>
            <a:endParaRPr b="1"/>
          </a:p>
          <a:p>
            <a:pPr indent="0" lvl="0" marL="0" rtl="0" algn="l">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7"/>
          <p:cNvSpPr txBox="1"/>
          <p:nvPr>
            <p:ph type="title"/>
          </p:nvPr>
        </p:nvSpPr>
        <p:spPr>
          <a:xfrm>
            <a:off x="311700" y="421950"/>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200"/>
              </a:spcBef>
              <a:spcAft>
                <a:spcPts val="1200"/>
              </a:spcAft>
              <a:buSzPts val="990"/>
              <a:buNone/>
            </a:pPr>
            <a:r>
              <a:rPr i="1" lang="es-419" sz="1700">
                <a:solidFill>
                  <a:srgbClr val="0A0A0A"/>
                </a:solidFill>
                <a:highlight>
                  <a:srgbClr val="FFFFFF"/>
                </a:highlight>
              </a:rPr>
              <a:t>¿</a:t>
            </a:r>
            <a:r>
              <a:rPr i="1" lang="es-419" sz="1790"/>
              <a:t>Qué corrimos?</a:t>
            </a:r>
            <a:endParaRPr sz="2520"/>
          </a:p>
        </p:txBody>
      </p:sp>
      <p:sp>
        <p:nvSpPr>
          <p:cNvPr id="238" name="Google Shape;238;p37"/>
          <p:cNvSpPr txBox="1"/>
          <p:nvPr>
            <p:ph idx="1" type="body"/>
          </p:nvPr>
        </p:nvSpPr>
        <p:spPr>
          <a:xfrm>
            <a:off x="311700" y="994650"/>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s-419" sz="1500">
                <a:solidFill>
                  <a:schemeClr val="dk1"/>
                </a:solidFill>
              </a:rPr>
              <a:t>Sobre nuestro modelo donde los salarios se ajustan con “</a:t>
            </a:r>
            <a:r>
              <a:rPr lang="es-419" sz="1500">
                <a:solidFill>
                  <a:schemeClr val="dk1"/>
                </a:solidFill>
              </a:rPr>
              <a:t>velocidad”</a:t>
            </a:r>
            <a:r>
              <a:rPr lang="es-419" sz="1500">
                <a:solidFill>
                  <a:schemeClr val="dk1"/>
                </a:solidFill>
              </a:rPr>
              <a:t> </a:t>
            </a:r>
            <a:r>
              <a:rPr b="1" lang="es-419" sz="1500">
                <a:solidFill>
                  <a:schemeClr val="dk1"/>
                </a:solidFill>
              </a:rPr>
              <a:t>phi</a:t>
            </a:r>
            <a:r>
              <a:rPr lang="es-419" sz="1500">
                <a:solidFill>
                  <a:schemeClr val="dk1"/>
                </a:solidFill>
              </a:rPr>
              <a:t> y los precios con “velocidad” </a:t>
            </a:r>
            <a:r>
              <a:rPr b="1" lang="es-419" sz="1500">
                <a:solidFill>
                  <a:schemeClr val="dk1"/>
                </a:solidFill>
              </a:rPr>
              <a:t>psi</a:t>
            </a:r>
            <a:r>
              <a:rPr lang="es-419" sz="1500">
                <a:solidFill>
                  <a:schemeClr val="dk1"/>
                </a:solidFill>
              </a:rPr>
              <a:t>.</a:t>
            </a:r>
            <a:endParaRPr sz="1500">
              <a:solidFill>
                <a:schemeClr val="dk1"/>
              </a:solidFill>
            </a:endParaRPr>
          </a:p>
          <a:p>
            <a:pPr indent="-323850" lvl="0" marL="457200" rtl="0" algn="l">
              <a:spcBef>
                <a:spcPts val="1200"/>
              </a:spcBef>
              <a:spcAft>
                <a:spcPts val="0"/>
              </a:spcAft>
              <a:buClr>
                <a:schemeClr val="dk1"/>
              </a:buClr>
              <a:buSzPts val="1500"/>
              <a:buChar char="-"/>
            </a:pPr>
            <a:r>
              <a:rPr lang="es-419" sz="1500">
                <a:solidFill>
                  <a:schemeClr val="dk1"/>
                </a:solidFill>
              </a:rPr>
              <a:t>OM-Sens: barrido en 3 parámetros </a:t>
            </a:r>
            <a:r>
              <a:rPr lang="es-419" sz="1500">
                <a:solidFill>
                  <a:schemeClr val="dk1"/>
                </a:solidFill>
              </a:rPr>
              <a:t>(con valores ±20%)</a:t>
            </a:r>
            <a:r>
              <a:rPr lang="es-419" sz="1500">
                <a:solidFill>
                  <a:schemeClr val="dk1"/>
                </a:solidFill>
              </a:rPr>
              <a:t>: delta, phi, psi.</a:t>
            </a:r>
            <a:endParaRPr sz="1500">
              <a:solidFill>
                <a:schemeClr val="dk1"/>
              </a:solidFill>
            </a:endParaRPr>
          </a:p>
          <a:p>
            <a:pPr indent="-323850" lvl="0" marL="457200" rtl="0" algn="l">
              <a:spcBef>
                <a:spcPts val="0"/>
              </a:spcBef>
              <a:spcAft>
                <a:spcPts val="0"/>
              </a:spcAft>
              <a:buClr>
                <a:schemeClr val="dk1"/>
              </a:buClr>
              <a:buSzPts val="1500"/>
              <a:buChar char="-"/>
            </a:pPr>
            <a:r>
              <a:rPr lang="es-419" sz="1500">
                <a:solidFill>
                  <a:schemeClr val="dk1"/>
                </a:solidFill>
              </a:rPr>
              <a:t>Dos experimentos/corridas con shock en t≈40:</a:t>
            </a:r>
            <a:endParaRPr sz="1500">
              <a:solidFill>
                <a:schemeClr val="dk1"/>
              </a:solidFill>
            </a:endParaRPr>
          </a:p>
          <a:p>
            <a:pPr indent="-323850" lvl="1" marL="914400" rtl="0" algn="l">
              <a:spcBef>
                <a:spcPts val="0"/>
              </a:spcBef>
              <a:spcAft>
                <a:spcPts val="0"/>
              </a:spcAft>
              <a:buClr>
                <a:schemeClr val="dk1"/>
              </a:buClr>
              <a:buSzPts val="1500"/>
              <a:buChar char="○"/>
            </a:pPr>
            <a:r>
              <a:rPr lang="es-419" sz="1500">
                <a:solidFill>
                  <a:schemeClr val="dk1"/>
                </a:solidFill>
              </a:rPr>
              <a:t>Shock energético transitorio (se </a:t>
            </a:r>
            <a:r>
              <a:rPr lang="es-419" sz="1500">
                <a:solidFill>
                  <a:schemeClr val="dk1"/>
                </a:solidFill>
              </a:rPr>
              <a:t>disipa</a:t>
            </a:r>
            <a:r>
              <a:rPr lang="es-419" sz="1500">
                <a:solidFill>
                  <a:schemeClr val="dk1"/>
                </a:solidFill>
              </a:rPr>
              <a:t>).</a:t>
            </a:r>
            <a:endParaRPr sz="1500">
              <a:solidFill>
                <a:schemeClr val="dk1"/>
              </a:solidFill>
            </a:endParaRPr>
          </a:p>
          <a:p>
            <a:pPr indent="-323850" lvl="1" marL="914400" rtl="0" algn="l">
              <a:spcBef>
                <a:spcPts val="0"/>
              </a:spcBef>
              <a:spcAft>
                <a:spcPts val="0"/>
              </a:spcAft>
              <a:buClr>
                <a:schemeClr val="dk1"/>
              </a:buClr>
              <a:buSzPts val="1500"/>
              <a:buChar char="○"/>
            </a:pPr>
            <a:r>
              <a:rPr lang="es-419" sz="1500">
                <a:solidFill>
                  <a:schemeClr val="dk1"/>
                </a:solidFill>
              </a:rPr>
              <a:t>Shock energético permanente (nivel de costos cambia para siempre).</a:t>
            </a:r>
            <a:endParaRPr sz="1500">
              <a:solidFill>
                <a:schemeClr val="dk1"/>
              </a:solidFill>
            </a:endParaRPr>
          </a:p>
          <a:p>
            <a:pPr indent="0" lvl="0" marL="0" rtl="0" algn="l">
              <a:spcBef>
                <a:spcPts val="1200"/>
              </a:spcBef>
              <a:spcAft>
                <a:spcPts val="0"/>
              </a:spcAft>
              <a:buNone/>
            </a:pPr>
            <a:r>
              <a:rPr b="1" lang="es-419" sz="1500">
                <a:solidFill>
                  <a:schemeClr val="dk1"/>
                </a:solidFill>
              </a:rPr>
              <a:t>phi mayor</a:t>
            </a:r>
            <a:r>
              <a:rPr lang="es-419" sz="1500">
                <a:solidFill>
                  <a:schemeClr val="dk1"/>
                </a:solidFill>
              </a:rPr>
              <a:t>: precios más flexibles, un traslado más inmediato del shock.</a:t>
            </a:r>
            <a:endParaRPr sz="1500">
              <a:solidFill>
                <a:schemeClr val="dk1"/>
              </a:solidFill>
            </a:endParaRPr>
          </a:p>
          <a:p>
            <a:pPr indent="0" lvl="0" marL="0" rtl="0" algn="l">
              <a:spcBef>
                <a:spcPts val="1200"/>
              </a:spcBef>
              <a:spcAft>
                <a:spcPts val="0"/>
              </a:spcAft>
              <a:buNone/>
            </a:pPr>
            <a:r>
              <a:rPr b="1" lang="es-419" sz="1500">
                <a:solidFill>
                  <a:schemeClr val="dk1"/>
                </a:solidFill>
              </a:rPr>
              <a:t>psi mayor</a:t>
            </a:r>
            <a:r>
              <a:rPr lang="es-419" sz="1500">
                <a:solidFill>
                  <a:schemeClr val="dk1"/>
                </a:solidFill>
              </a:rPr>
              <a:t>: salarios muy reactivos, lo que retroalimenta el conflicto y aumenta la persistencia inflacionaria.</a:t>
            </a:r>
            <a:endParaRPr sz="1500">
              <a:solidFill>
                <a:schemeClr val="dk1"/>
              </a:solidFill>
            </a:endParaRPr>
          </a:p>
          <a:p>
            <a:pPr indent="0" lvl="0" marL="0" rtl="0" algn="l">
              <a:spcBef>
                <a:spcPts val="1200"/>
              </a:spcBef>
              <a:spcAft>
                <a:spcPts val="0"/>
              </a:spcAft>
              <a:buNone/>
            </a:pPr>
            <a:r>
              <a:rPr b="1" lang="es-419" sz="1500">
                <a:solidFill>
                  <a:schemeClr val="dk1"/>
                </a:solidFill>
              </a:rPr>
              <a:t>delta mayor:</a:t>
            </a:r>
            <a:r>
              <a:rPr lang="es-419" sz="1500">
                <a:solidFill>
                  <a:schemeClr val="dk1"/>
                </a:solidFill>
              </a:rPr>
              <a:t> economía donde cualquier shock energético tiene más impacto directo en inflación.</a:t>
            </a:r>
            <a:endParaRPr sz="1500">
              <a:solidFill>
                <a:schemeClr val="dk1"/>
              </a:solidFill>
            </a:endParaRPr>
          </a:p>
          <a:p>
            <a:pPr indent="0" lvl="0" marL="0" rtl="0" algn="l">
              <a:spcBef>
                <a:spcPts val="1200"/>
              </a:spcBef>
              <a:spcAft>
                <a:spcPts val="0"/>
              </a:spcAft>
              <a:buNone/>
            </a:pPr>
            <a:r>
              <a:t/>
            </a:r>
            <a:endParaRPr b="1" sz="1500">
              <a:solidFill>
                <a:schemeClr val="dk1"/>
              </a:solidFill>
            </a:endParaRPr>
          </a:p>
          <a:p>
            <a:pPr indent="0" lvl="0" marL="457200" rtl="0" algn="l">
              <a:spcBef>
                <a:spcPts val="1200"/>
              </a:spcBef>
              <a:spcAft>
                <a:spcPts val="1200"/>
              </a:spcAft>
              <a:buNone/>
            </a:pPr>
            <a:r>
              <a:t/>
            </a:r>
            <a:endParaRPr sz="17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i="1" lang="es-419" sz="1790">
                <a:solidFill>
                  <a:srgbClr val="000000"/>
                </a:solidFill>
              </a:rPr>
              <a:t>Objetivos</a:t>
            </a:r>
            <a:endParaRPr/>
          </a:p>
        </p:txBody>
      </p:sp>
      <p:sp>
        <p:nvSpPr>
          <p:cNvPr id="244" name="Google Shape;244;p38"/>
          <p:cNvSpPr txBox="1"/>
          <p:nvPr>
            <p:ph idx="1" type="body"/>
          </p:nvPr>
        </p:nvSpPr>
        <p:spPr>
          <a:xfrm>
            <a:off x="311700" y="2080325"/>
            <a:ext cx="8520600" cy="1620900"/>
          </a:xfrm>
          <a:prstGeom prst="rect">
            <a:avLst/>
          </a:prstGeom>
        </p:spPr>
        <p:txBody>
          <a:bodyPr anchorCtr="0" anchor="t" bIns="91425" lIns="91425" spcFirstLastPara="1" rIns="91425" wrap="square" tIns="91425">
            <a:normAutofit/>
          </a:bodyPr>
          <a:lstStyle/>
          <a:p>
            <a:pPr indent="-330200" lvl="0" marL="457200" rtl="0" algn="l">
              <a:spcBef>
                <a:spcPts val="1200"/>
              </a:spcBef>
              <a:spcAft>
                <a:spcPts val="0"/>
              </a:spcAft>
              <a:buClr>
                <a:schemeClr val="dk1"/>
              </a:buClr>
              <a:buSzPts val="1600"/>
              <a:buAutoNum type="arabicPeriod"/>
            </a:pPr>
            <a:r>
              <a:rPr lang="es-419" sz="1600">
                <a:solidFill>
                  <a:schemeClr val="dk1"/>
                </a:solidFill>
              </a:rPr>
              <a:t>Comparar shock transitorio vs. permanente (veremos su traducci</a:t>
            </a:r>
            <a:r>
              <a:rPr lang="es-419" sz="1600">
                <a:solidFill>
                  <a:schemeClr val="dk1"/>
                </a:solidFill>
              </a:rPr>
              <a:t>ón en la </a:t>
            </a:r>
            <a:r>
              <a:rPr lang="es-419" sz="1600">
                <a:solidFill>
                  <a:schemeClr val="dk1"/>
                </a:solidFill>
              </a:rPr>
              <a:t>estructura).</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s-419" sz="1600">
                <a:solidFill>
                  <a:schemeClr val="dk1"/>
                </a:solidFill>
              </a:rPr>
              <a:t>Ver cómo cambia</a:t>
            </a:r>
            <a:r>
              <a:rPr lang="es-419" sz="1600">
                <a:solidFill>
                  <a:schemeClr val="dk1"/>
                </a:solidFill>
              </a:rPr>
              <a:t> persistencia </a:t>
            </a:r>
            <a:r>
              <a:rPr lang="es-419" sz="1600">
                <a:solidFill>
                  <a:schemeClr val="dk1"/>
                </a:solidFill>
              </a:rPr>
              <a:t>si los salarios (psi) se ajustan más rápido que los precios (phi).</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s-419" sz="1600">
                <a:solidFill>
                  <a:schemeClr val="dk1"/>
                </a:solidFill>
              </a:rPr>
              <a:t>Analizar efecto de mayor intensidad energética (delta) en la inflación.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9"/>
          <p:cNvSpPr txBox="1"/>
          <p:nvPr>
            <p:ph idx="1" type="body"/>
          </p:nvPr>
        </p:nvSpPr>
        <p:spPr>
          <a:xfrm>
            <a:off x="5945225" y="574875"/>
            <a:ext cx="2900700" cy="281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400">
                <a:solidFill>
                  <a:srgbClr val="0E0E0E"/>
                </a:solidFill>
              </a:rPr>
              <a:t>U</a:t>
            </a:r>
            <a:r>
              <a:rPr lang="es-419" sz="1400">
                <a:solidFill>
                  <a:srgbClr val="0E0E0E"/>
                </a:solidFill>
              </a:rPr>
              <a:t>n shock permanente eleva el precio relativo de la energía de forma sostenida. Como es parte del costo marginal, la inflación se mantiene elevada más tiempo. El shock transitorio provoca un pico similar pero la economía vuelve más rápido a su trayectoria previa de modo que el conflicto distributivo se disipa.</a:t>
            </a:r>
            <a:endParaRPr sz="2000"/>
          </a:p>
        </p:txBody>
      </p:sp>
      <p:pic>
        <p:nvPicPr>
          <p:cNvPr id="250" name="Google Shape;250;p39" title="Unknown-15.png"/>
          <p:cNvPicPr preferRelativeResize="0"/>
          <p:nvPr/>
        </p:nvPicPr>
        <p:blipFill>
          <a:blip r:embed="rId3">
            <a:alphaModFix/>
          </a:blip>
          <a:stretch>
            <a:fillRect/>
          </a:stretch>
        </p:blipFill>
        <p:spPr>
          <a:xfrm>
            <a:off x="343925" y="252325"/>
            <a:ext cx="5468249" cy="3609875"/>
          </a:xfrm>
          <a:prstGeom prst="rect">
            <a:avLst/>
          </a:prstGeom>
          <a:noFill/>
          <a:ln>
            <a:noFill/>
          </a:ln>
        </p:spPr>
      </p:pic>
      <p:sp>
        <p:nvSpPr>
          <p:cNvPr id="251" name="Google Shape;251;p39"/>
          <p:cNvSpPr txBox="1"/>
          <p:nvPr/>
        </p:nvSpPr>
        <p:spPr>
          <a:xfrm>
            <a:off x="321000" y="3862200"/>
            <a:ext cx="8502000" cy="138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419" sz="1300">
                <a:solidFill>
                  <a:schemeClr val="dk2"/>
                </a:solidFill>
              </a:rPr>
              <a:t>S</a:t>
            </a:r>
            <a:r>
              <a:rPr lang="es-419" sz="1300">
                <a:solidFill>
                  <a:schemeClr val="dk2"/>
                </a:solidFill>
              </a:rPr>
              <a:t>erie de hat_p (inflación instantánea). Shock transitorio (azul) vs. Shock permanente (rojo punteado). En t=40.</a:t>
            </a:r>
            <a:endParaRPr sz="1300">
              <a:solidFill>
                <a:schemeClr val="dk2"/>
              </a:solidFill>
            </a:endParaRPr>
          </a:p>
          <a:p>
            <a:pPr indent="0" lvl="0" marL="0" rtl="0" algn="l">
              <a:lnSpc>
                <a:spcPct val="115000"/>
              </a:lnSpc>
              <a:spcBef>
                <a:spcPts val="1200"/>
              </a:spcBef>
              <a:spcAft>
                <a:spcPts val="0"/>
              </a:spcAft>
              <a:buNone/>
            </a:pPr>
            <a:r>
              <a:rPr lang="es-419" sz="1300">
                <a:solidFill>
                  <a:schemeClr val="dk2"/>
                </a:solidFill>
              </a:rPr>
              <a:t>Construímos las curvas con la simulación de OM Sense para comparar ambos shocks con la misma configuración del modelo y obtener las curvas de inflación de forma consistente.</a:t>
            </a:r>
            <a:endParaRPr sz="1300">
              <a:solidFill>
                <a:schemeClr val="dk2"/>
              </a:solidFill>
            </a:endParaRPr>
          </a:p>
          <a:p>
            <a:pPr indent="0" lvl="0" marL="0" rtl="0" algn="l">
              <a:lnSpc>
                <a:spcPct val="115000"/>
              </a:lnSpc>
              <a:spcBef>
                <a:spcPts val="1200"/>
              </a:spcBef>
              <a:spcAft>
                <a:spcPts val="1200"/>
              </a:spcAft>
              <a:buClr>
                <a:schemeClr val="dk1"/>
              </a:buClr>
              <a:buSzPts val="1100"/>
              <a:buFont typeface="Arial"/>
              <a:buNone/>
            </a:pPr>
            <a:r>
              <a:t/>
            </a:r>
            <a:endParaRPr sz="1300">
              <a:solidFill>
                <a:schemeClr val="dk2"/>
              </a:solidFill>
            </a:endParaRPr>
          </a:p>
        </p:txBody>
      </p:sp>
      <p:sp>
        <p:nvSpPr>
          <p:cNvPr id="252" name="Google Shape;252;p39"/>
          <p:cNvSpPr/>
          <p:nvPr/>
        </p:nvSpPr>
        <p:spPr>
          <a:xfrm>
            <a:off x="2725776" y="474022"/>
            <a:ext cx="1210200" cy="1512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0"/>
          <p:cNvSpPr txBox="1"/>
          <p:nvPr>
            <p:ph idx="1" type="body"/>
          </p:nvPr>
        </p:nvSpPr>
        <p:spPr>
          <a:xfrm>
            <a:off x="5922300" y="355650"/>
            <a:ext cx="2900700" cy="281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rgbClr val="0E0E0E"/>
                </a:solidFill>
              </a:rPr>
              <a:t>Comparamos cómo cambia la inflación ante un shock energético cuando aceleramos el ajuste de precios (phi) o de salarios (psi). La curva azul es el caso base. </a:t>
            </a:r>
            <a:endParaRPr sz="1300">
              <a:solidFill>
                <a:srgbClr val="0E0E0E"/>
              </a:solidFill>
            </a:endParaRPr>
          </a:p>
          <a:p>
            <a:pPr indent="0" lvl="0" marL="0" rtl="0" algn="l">
              <a:spcBef>
                <a:spcPts val="0"/>
              </a:spcBef>
              <a:spcAft>
                <a:spcPts val="0"/>
              </a:spcAft>
              <a:buNone/>
            </a:pPr>
            <a:r>
              <a:rPr lang="es-419" sz="1300">
                <a:solidFill>
                  <a:srgbClr val="0E0E0E"/>
                </a:solidFill>
              </a:rPr>
              <a:t>La curva naranja muestra que </a:t>
            </a:r>
            <a:r>
              <a:rPr lang="es-419" sz="1300">
                <a:solidFill>
                  <a:srgbClr val="0E0E0E"/>
                </a:solidFill>
              </a:rPr>
              <a:t>cuando</a:t>
            </a:r>
            <a:r>
              <a:rPr lang="es-419" sz="1300">
                <a:solidFill>
                  <a:srgbClr val="0E0E0E"/>
                </a:solidFill>
              </a:rPr>
              <a:t> phi aumenta, la inflación aumenta y converge a un mayor steady state. Las firmas trasladan el encarecimiento de la energía al costo marginal.</a:t>
            </a:r>
            <a:endParaRPr sz="1300">
              <a:solidFill>
                <a:srgbClr val="0E0E0E"/>
              </a:solidFill>
            </a:endParaRPr>
          </a:p>
          <a:p>
            <a:pPr indent="0" lvl="0" marL="0" rtl="0" algn="l">
              <a:spcBef>
                <a:spcPts val="0"/>
              </a:spcBef>
              <a:spcAft>
                <a:spcPts val="0"/>
              </a:spcAft>
              <a:buNone/>
            </a:pPr>
            <a:r>
              <a:rPr lang="es-419" sz="1300">
                <a:solidFill>
                  <a:srgbClr val="0E0E0E"/>
                </a:solidFill>
              </a:rPr>
              <a:t>La curva verde muestra que cuando psi aumenta, los salarios reaccionan al desajuste distributivo y generan un impulso inflacionario pero tiene menor fuerza que en el caso anterior y que en el caso base.</a:t>
            </a:r>
            <a:endParaRPr sz="1300">
              <a:solidFill>
                <a:srgbClr val="0E0E0E"/>
              </a:solidFill>
            </a:endParaRPr>
          </a:p>
        </p:txBody>
      </p:sp>
      <p:pic>
        <p:nvPicPr>
          <p:cNvPr id="258" name="Google Shape;258;p40" title="Unknown-16.png"/>
          <p:cNvPicPr preferRelativeResize="0"/>
          <p:nvPr/>
        </p:nvPicPr>
        <p:blipFill rotWithShape="1">
          <a:blip r:embed="rId3">
            <a:alphaModFix/>
          </a:blip>
          <a:srcRect b="0" l="0" r="0" t="0"/>
          <a:stretch/>
        </p:blipFill>
        <p:spPr>
          <a:xfrm>
            <a:off x="343925" y="252325"/>
            <a:ext cx="5468249" cy="3609875"/>
          </a:xfrm>
          <a:prstGeom prst="rect">
            <a:avLst/>
          </a:prstGeom>
          <a:noFill/>
          <a:ln>
            <a:noFill/>
          </a:ln>
        </p:spPr>
      </p:pic>
      <p:sp>
        <p:nvSpPr>
          <p:cNvPr id="259" name="Google Shape;259;p40"/>
          <p:cNvSpPr txBox="1"/>
          <p:nvPr/>
        </p:nvSpPr>
        <p:spPr>
          <a:xfrm>
            <a:off x="321000" y="3862200"/>
            <a:ext cx="5601300" cy="84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419" sz="1300">
                <a:solidFill>
                  <a:schemeClr val="dk2"/>
                </a:solidFill>
              </a:rPr>
              <a:t>Tres curvas hat_p: AZUL (psi = phi = delta 1), NARANJA (psi = delta = 1, phi = 1.2 -precios más rígidos/ajuste más lento-), VERDE (psi = 1.2 -salarios “más rápidos”-, delta = phi = 1).</a:t>
            </a:r>
            <a:endParaRPr sz="13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1"/>
          <p:cNvSpPr txBox="1"/>
          <p:nvPr>
            <p:ph idx="1" type="body"/>
          </p:nvPr>
        </p:nvSpPr>
        <p:spPr>
          <a:xfrm>
            <a:off x="5922300" y="355650"/>
            <a:ext cx="2900700" cy="281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500">
                <a:solidFill>
                  <a:srgbClr val="0E0E0E"/>
                </a:solidFill>
              </a:rPr>
              <a:t>Mayor </a:t>
            </a:r>
            <a:r>
              <a:rPr lang="es-419" sz="1500">
                <a:solidFill>
                  <a:srgbClr val="0E0E0E"/>
                </a:solidFill>
              </a:rPr>
              <a:t>delta </a:t>
            </a:r>
            <a:r>
              <a:rPr lang="es-419" sz="1500">
                <a:solidFill>
                  <a:srgbClr val="0E0E0E"/>
                </a:solidFill>
              </a:rPr>
              <a:t>significa mayor</a:t>
            </a:r>
            <a:r>
              <a:rPr lang="es-419" sz="1500">
                <a:solidFill>
                  <a:srgbClr val="0E0E0E"/>
                </a:solidFill>
              </a:rPr>
              <a:t> p</a:t>
            </a:r>
            <a:r>
              <a:rPr lang="es-419" sz="1500">
                <a:solidFill>
                  <a:srgbClr val="0E0E0E"/>
                </a:solidFill>
              </a:rPr>
              <a:t>eso de la energía en el costo marginal</a:t>
            </a:r>
            <a:r>
              <a:rPr lang="es-419" sz="1500">
                <a:solidFill>
                  <a:srgbClr val="0E0E0E"/>
                </a:solidFill>
              </a:rPr>
              <a:t>. Lo que conlleva </a:t>
            </a:r>
            <a:r>
              <a:rPr lang="es-419" sz="1500">
                <a:solidFill>
                  <a:srgbClr val="0E0E0E"/>
                </a:solidFill>
              </a:rPr>
              <a:t>una </a:t>
            </a:r>
            <a:r>
              <a:rPr lang="es-419" sz="1500">
                <a:solidFill>
                  <a:srgbClr val="0E0E0E"/>
                </a:solidFill>
              </a:rPr>
              <a:t>mayor magnitud del </a:t>
            </a:r>
            <a:r>
              <a:rPr lang="es-419" sz="1500">
                <a:solidFill>
                  <a:srgbClr val="0E0E0E"/>
                </a:solidFill>
              </a:rPr>
              <a:t>choque</a:t>
            </a:r>
            <a:r>
              <a:rPr lang="es-419" sz="1500">
                <a:solidFill>
                  <a:srgbClr val="0E0E0E"/>
                </a:solidFill>
              </a:rPr>
              <a:t> (peak más alto) y steady más alto, </a:t>
            </a:r>
            <a:r>
              <a:rPr lang="es-419" sz="1500">
                <a:solidFill>
                  <a:srgbClr val="0E0E0E"/>
                </a:solidFill>
              </a:rPr>
              <a:t>y probablemente mayor daño distributivo. </a:t>
            </a:r>
            <a:endParaRPr sz="1500">
              <a:solidFill>
                <a:srgbClr val="0E0E0E"/>
              </a:solidFill>
            </a:endParaRPr>
          </a:p>
          <a:p>
            <a:pPr indent="0" lvl="0" marL="0" rtl="0" algn="l">
              <a:spcBef>
                <a:spcPts val="0"/>
              </a:spcBef>
              <a:spcAft>
                <a:spcPts val="0"/>
              </a:spcAft>
              <a:buNone/>
            </a:pPr>
            <a:r>
              <a:t/>
            </a:r>
            <a:endParaRPr sz="1300">
              <a:solidFill>
                <a:srgbClr val="0E0E0E"/>
              </a:solidFill>
            </a:endParaRPr>
          </a:p>
        </p:txBody>
      </p:sp>
      <p:pic>
        <p:nvPicPr>
          <p:cNvPr id="265" name="Google Shape;265;p41" title="Unknown-17.png"/>
          <p:cNvPicPr preferRelativeResize="0"/>
          <p:nvPr/>
        </p:nvPicPr>
        <p:blipFill rotWithShape="1">
          <a:blip r:embed="rId3">
            <a:alphaModFix/>
          </a:blip>
          <a:srcRect b="0" l="0" r="-1481" t="0"/>
          <a:stretch/>
        </p:blipFill>
        <p:spPr>
          <a:xfrm>
            <a:off x="343925" y="252325"/>
            <a:ext cx="5468249" cy="3609875"/>
          </a:xfrm>
          <a:prstGeom prst="rect">
            <a:avLst/>
          </a:prstGeom>
          <a:noFill/>
          <a:ln>
            <a:noFill/>
          </a:ln>
        </p:spPr>
      </p:pic>
      <p:sp>
        <p:nvSpPr>
          <p:cNvPr id="266" name="Google Shape;266;p41"/>
          <p:cNvSpPr txBox="1"/>
          <p:nvPr/>
        </p:nvSpPr>
        <p:spPr>
          <a:xfrm>
            <a:off x="321000" y="3862200"/>
            <a:ext cx="56013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dk1"/>
              </a:buClr>
              <a:buSzPts val="1100"/>
              <a:buFont typeface="Arial"/>
              <a:buNone/>
            </a:pPr>
            <a:r>
              <a:rPr lang="es-419" sz="1800">
                <a:solidFill>
                  <a:schemeClr val="dk2"/>
                </a:solidFill>
              </a:rPr>
              <a:t>Curvas de hat_p: baseline vs. curva con delta = 1.2. </a:t>
            </a:r>
            <a:endParaRPr sz="1300">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2"/>
          <p:cNvSpPr txBox="1"/>
          <p:nvPr>
            <p:ph idx="1" type="body"/>
          </p:nvPr>
        </p:nvSpPr>
        <p:spPr>
          <a:xfrm>
            <a:off x="134400" y="4349444"/>
            <a:ext cx="8875200" cy="281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sz="1500">
                <a:solidFill>
                  <a:srgbClr val="0E0E0E"/>
                </a:solidFill>
              </a:rPr>
              <a:t>No los presentamos en clase debido a que seleccionamos los casos que se alineaban con nuestro análisis objetivo.</a:t>
            </a:r>
            <a:endParaRPr sz="1300">
              <a:solidFill>
                <a:srgbClr val="0E0E0E"/>
              </a:solidFill>
            </a:endParaRPr>
          </a:p>
        </p:txBody>
      </p:sp>
      <p:sp>
        <p:nvSpPr>
          <p:cNvPr id="272" name="Google Shape;272;p42"/>
          <p:cNvSpPr txBox="1"/>
          <p:nvPr>
            <p:ph type="title"/>
          </p:nvPr>
        </p:nvSpPr>
        <p:spPr>
          <a:xfrm>
            <a:off x="311700" y="1806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i="1" lang="es-419" sz="1820"/>
              <a:t>Gráficos con los barridos completos de OMSens de todas las </a:t>
            </a:r>
            <a:r>
              <a:rPr i="1" lang="es-419" sz="1820"/>
              <a:t>variables</a:t>
            </a:r>
            <a:endParaRPr i="1" sz="1820"/>
          </a:p>
        </p:txBody>
      </p:sp>
      <p:pic>
        <p:nvPicPr>
          <p:cNvPr id="273" name="Google Shape;273;p42" title="Unknown-21.png"/>
          <p:cNvPicPr preferRelativeResize="0"/>
          <p:nvPr/>
        </p:nvPicPr>
        <p:blipFill>
          <a:blip r:embed="rId3">
            <a:alphaModFix/>
          </a:blip>
          <a:stretch>
            <a:fillRect/>
          </a:stretch>
        </p:blipFill>
        <p:spPr>
          <a:xfrm>
            <a:off x="134400" y="793650"/>
            <a:ext cx="2628989" cy="1440125"/>
          </a:xfrm>
          <a:prstGeom prst="rect">
            <a:avLst/>
          </a:prstGeom>
          <a:noFill/>
          <a:ln>
            <a:noFill/>
          </a:ln>
        </p:spPr>
      </p:pic>
      <p:pic>
        <p:nvPicPr>
          <p:cNvPr id="274" name="Google Shape;274;p42" title="Unknown-20.png"/>
          <p:cNvPicPr preferRelativeResize="0"/>
          <p:nvPr/>
        </p:nvPicPr>
        <p:blipFill>
          <a:blip r:embed="rId4">
            <a:alphaModFix/>
          </a:blip>
          <a:stretch>
            <a:fillRect/>
          </a:stretch>
        </p:blipFill>
        <p:spPr>
          <a:xfrm>
            <a:off x="3200331" y="793650"/>
            <a:ext cx="2628974" cy="1440125"/>
          </a:xfrm>
          <a:prstGeom prst="rect">
            <a:avLst/>
          </a:prstGeom>
          <a:noFill/>
          <a:ln>
            <a:noFill/>
          </a:ln>
        </p:spPr>
      </p:pic>
      <p:pic>
        <p:nvPicPr>
          <p:cNvPr id="275" name="Google Shape;275;p42" title="Unknown-19.png"/>
          <p:cNvPicPr preferRelativeResize="0"/>
          <p:nvPr/>
        </p:nvPicPr>
        <p:blipFill>
          <a:blip r:embed="rId5">
            <a:alphaModFix/>
          </a:blip>
          <a:stretch>
            <a:fillRect/>
          </a:stretch>
        </p:blipFill>
        <p:spPr>
          <a:xfrm>
            <a:off x="6323475" y="840748"/>
            <a:ext cx="2422650" cy="1345925"/>
          </a:xfrm>
          <a:prstGeom prst="rect">
            <a:avLst/>
          </a:prstGeom>
          <a:noFill/>
          <a:ln>
            <a:noFill/>
          </a:ln>
        </p:spPr>
      </p:pic>
      <p:pic>
        <p:nvPicPr>
          <p:cNvPr id="276" name="Google Shape;276;p42" title="Unknown-17.png"/>
          <p:cNvPicPr preferRelativeResize="0"/>
          <p:nvPr/>
        </p:nvPicPr>
        <p:blipFill>
          <a:blip r:embed="rId6">
            <a:alphaModFix/>
          </a:blip>
          <a:stretch>
            <a:fillRect/>
          </a:stretch>
        </p:blipFill>
        <p:spPr>
          <a:xfrm>
            <a:off x="1130675" y="2386175"/>
            <a:ext cx="3305799" cy="1810869"/>
          </a:xfrm>
          <a:prstGeom prst="rect">
            <a:avLst/>
          </a:prstGeom>
          <a:noFill/>
          <a:ln>
            <a:noFill/>
          </a:ln>
        </p:spPr>
      </p:pic>
      <p:pic>
        <p:nvPicPr>
          <p:cNvPr id="277" name="Google Shape;277;p42" title="Unknown-16.png"/>
          <p:cNvPicPr preferRelativeResize="0"/>
          <p:nvPr/>
        </p:nvPicPr>
        <p:blipFill>
          <a:blip r:embed="rId7">
            <a:alphaModFix/>
          </a:blip>
          <a:stretch>
            <a:fillRect/>
          </a:stretch>
        </p:blipFill>
        <p:spPr>
          <a:xfrm>
            <a:off x="4719972" y="2386175"/>
            <a:ext cx="3305799" cy="181086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3"/>
          <p:cNvSpPr txBox="1"/>
          <p:nvPr/>
        </p:nvSpPr>
        <p:spPr>
          <a:xfrm>
            <a:off x="59050" y="496975"/>
            <a:ext cx="6137400" cy="4572000"/>
          </a:xfrm>
          <a:prstGeom prst="rect">
            <a:avLst/>
          </a:prstGeom>
          <a:noFill/>
          <a:ln>
            <a:noFill/>
          </a:ln>
        </p:spPr>
        <p:txBody>
          <a:bodyPr anchorCtr="0" anchor="t" bIns="45700" lIns="91425" spcFirstLastPara="1" rIns="91425" wrap="square" tIns="45700">
            <a:normAutofit/>
          </a:bodyPr>
          <a:lstStyle/>
          <a:p>
            <a:pPr indent="-209550" lvl="0" marL="228600" rtl="0" algn="l">
              <a:lnSpc>
                <a:spcPct val="80000"/>
              </a:lnSpc>
              <a:spcBef>
                <a:spcPts val="0"/>
              </a:spcBef>
              <a:spcAft>
                <a:spcPts val="0"/>
              </a:spcAft>
              <a:buClr>
                <a:srgbClr val="B7B7B7"/>
              </a:buClr>
              <a:buSzPts val="2600"/>
              <a:buFont typeface="Noto Sans Symbols"/>
              <a:buChar char="▪"/>
            </a:pPr>
            <a:r>
              <a:rPr lang="es-419" sz="2600">
                <a:solidFill>
                  <a:srgbClr val="B7B7B7"/>
                </a:solidFill>
                <a:latin typeface="Calibri"/>
                <a:ea typeface="Calibri"/>
                <a:cs typeface="Calibri"/>
                <a:sym typeface="Calibri"/>
              </a:rPr>
              <a:t>Introducción</a:t>
            </a:r>
            <a:endParaRPr sz="2600">
              <a:solidFill>
                <a:srgbClr val="B7B7B7"/>
              </a:solidFill>
              <a:latin typeface="Calibri"/>
              <a:ea typeface="Calibri"/>
              <a:cs typeface="Calibri"/>
              <a:sym typeface="Calibri"/>
            </a:endParaRPr>
          </a:p>
          <a:p>
            <a:pPr indent="-279400" lvl="1" marL="685800" rtl="0" algn="l">
              <a:lnSpc>
                <a:spcPct val="80000"/>
              </a:lnSpc>
              <a:spcBef>
                <a:spcPts val="0"/>
              </a:spcBef>
              <a:spcAft>
                <a:spcPts val="0"/>
              </a:spcAft>
              <a:buClr>
                <a:srgbClr val="B7B7B7"/>
              </a:buClr>
              <a:buSzPts val="2600"/>
              <a:buFont typeface="Noto Sans Symbols"/>
              <a:buChar char="•"/>
            </a:pPr>
            <a:r>
              <a:rPr lang="es-419" sz="2600">
                <a:solidFill>
                  <a:srgbClr val="B7B7B7"/>
                </a:solidFill>
                <a:latin typeface="Calibri"/>
                <a:ea typeface="Calibri"/>
                <a:cs typeface="Calibri"/>
                <a:sym typeface="Calibri"/>
              </a:rPr>
              <a:t>Explicación del paper</a:t>
            </a:r>
            <a:endParaRPr sz="2600">
              <a:solidFill>
                <a:srgbClr val="B7B7B7"/>
              </a:solidFill>
              <a:latin typeface="Calibri"/>
              <a:ea typeface="Calibri"/>
              <a:cs typeface="Calibri"/>
              <a:sym typeface="Calibri"/>
            </a:endParaRPr>
          </a:p>
          <a:p>
            <a:pPr indent="-279400" lvl="1" marL="685800" rtl="0" algn="l">
              <a:lnSpc>
                <a:spcPct val="80000"/>
              </a:lnSpc>
              <a:spcBef>
                <a:spcPts val="0"/>
              </a:spcBef>
              <a:spcAft>
                <a:spcPts val="0"/>
              </a:spcAft>
              <a:buClr>
                <a:srgbClr val="B7B7B7"/>
              </a:buClr>
              <a:buSzPts val="2600"/>
              <a:buFont typeface="Noto Sans Symbols"/>
              <a:buChar char="•"/>
            </a:pPr>
            <a:r>
              <a:rPr lang="es-419" sz="2600">
                <a:solidFill>
                  <a:srgbClr val="B7B7B7"/>
                </a:solidFill>
                <a:latin typeface="Calibri"/>
                <a:ea typeface="Calibri"/>
                <a:cs typeface="Calibri"/>
                <a:sym typeface="Calibri"/>
              </a:rPr>
              <a:t>Objetivos</a:t>
            </a:r>
            <a:endParaRPr sz="2600">
              <a:solidFill>
                <a:srgbClr val="B7B7B7"/>
              </a:solidFill>
              <a:latin typeface="Calibri"/>
              <a:ea typeface="Calibri"/>
              <a:cs typeface="Calibri"/>
              <a:sym typeface="Calibri"/>
            </a:endParaRPr>
          </a:p>
          <a:p>
            <a:pPr indent="-254000" lvl="1" marL="685800" rtl="0" algn="l">
              <a:lnSpc>
                <a:spcPct val="80000"/>
              </a:lnSpc>
              <a:spcBef>
                <a:spcPts val="500"/>
              </a:spcBef>
              <a:spcAft>
                <a:spcPts val="0"/>
              </a:spcAft>
              <a:buClr>
                <a:srgbClr val="B7B7B7"/>
              </a:buClr>
              <a:buSzPts val="2200"/>
              <a:buFont typeface="Calibri"/>
              <a:buChar char="•"/>
            </a:pPr>
            <a:r>
              <a:rPr lang="es-419" sz="2600">
                <a:solidFill>
                  <a:srgbClr val="B7B7B7"/>
                </a:solidFill>
                <a:latin typeface="Calibri"/>
                <a:ea typeface="Calibri"/>
                <a:cs typeface="Calibri"/>
                <a:sym typeface="Calibri"/>
              </a:rPr>
              <a:t>Pasaje del modelo a modelica</a:t>
            </a:r>
            <a:endParaRPr sz="2600">
              <a:solidFill>
                <a:srgbClr val="B7B7B7"/>
              </a:solidFill>
              <a:latin typeface="Calibri"/>
              <a:ea typeface="Calibri"/>
              <a:cs typeface="Calibri"/>
              <a:sym typeface="Calibri"/>
            </a:endParaRPr>
          </a:p>
          <a:p>
            <a:pPr indent="-279400" lvl="0" marL="228600" rtl="0" algn="l">
              <a:lnSpc>
                <a:spcPct val="80000"/>
              </a:lnSpc>
              <a:spcBef>
                <a:spcPts val="1000"/>
              </a:spcBef>
              <a:spcAft>
                <a:spcPts val="0"/>
              </a:spcAft>
              <a:buClr>
                <a:srgbClr val="B7B7B7"/>
              </a:buClr>
              <a:buSzPts val="2600"/>
              <a:buChar char="▪"/>
            </a:pPr>
            <a:r>
              <a:rPr lang="es-419" sz="2600">
                <a:solidFill>
                  <a:srgbClr val="B7B7B7"/>
                </a:solidFill>
                <a:latin typeface="Calibri"/>
                <a:ea typeface="Calibri"/>
                <a:cs typeface="Calibri"/>
                <a:sym typeface="Calibri"/>
              </a:rPr>
              <a:t>Aporte Principal y Desarrollo</a:t>
            </a:r>
            <a:endParaRPr sz="2600">
              <a:solidFill>
                <a:srgbClr val="B7B7B7"/>
              </a:solidFill>
              <a:latin typeface="Calibri"/>
              <a:ea typeface="Calibri"/>
              <a:cs typeface="Calibri"/>
              <a:sym typeface="Calibri"/>
            </a:endParaRPr>
          </a:p>
          <a:p>
            <a:pPr indent="-279400" lvl="1" marL="685800" rtl="0" algn="l">
              <a:lnSpc>
                <a:spcPct val="80000"/>
              </a:lnSpc>
              <a:spcBef>
                <a:spcPts val="500"/>
              </a:spcBef>
              <a:spcAft>
                <a:spcPts val="0"/>
              </a:spcAft>
              <a:buClr>
                <a:srgbClr val="B7B7B7"/>
              </a:buClr>
              <a:buSzPts val="2600"/>
              <a:buChar char="•"/>
            </a:pPr>
            <a:r>
              <a:rPr lang="es-419" sz="2600">
                <a:solidFill>
                  <a:srgbClr val="B7B7B7"/>
                </a:solidFill>
                <a:latin typeface="Calibri"/>
                <a:ea typeface="Calibri"/>
                <a:cs typeface="Calibri"/>
                <a:sym typeface="Calibri"/>
              </a:rPr>
              <a:t>Extensión a un 3er Sector </a:t>
            </a:r>
            <a:endParaRPr sz="2600">
              <a:solidFill>
                <a:srgbClr val="B7B7B7"/>
              </a:solidFill>
              <a:latin typeface="Calibri"/>
              <a:ea typeface="Calibri"/>
              <a:cs typeface="Calibri"/>
              <a:sym typeface="Calibri"/>
            </a:endParaRPr>
          </a:p>
          <a:p>
            <a:pPr indent="-279400" lvl="1" marL="685800" rtl="0" algn="l">
              <a:lnSpc>
                <a:spcPct val="80000"/>
              </a:lnSpc>
              <a:spcBef>
                <a:spcPts val="500"/>
              </a:spcBef>
              <a:spcAft>
                <a:spcPts val="0"/>
              </a:spcAft>
              <a:buClr>
                <a:srgbClr val="B7B7B7"/>
              </a:buClr>
              <a:buSzPts val="2600"/>
              <a:buChar char="•"/>
            </a:pPr>
            <a:r>
              <a:rPr lang="es-419" sz="2600">
                <a:solidFill>
                  <a:srgbClr val="B7B7B7"/>
                </a:solidFill>
                <a:latin typeface="Calibri"/>
                <a:ea typeface="Calibri"/>
                <a:cs typeface="Calibri"/>
                <a:sym typeface="Calibri"/>
              </a:rPr>
              <a:t>Extension a n Sectores</a:t>
            </a:r>
            <a:endParaRPr sz="2600">
              <a:solidFill>
                <a:srgbClr val="B7B7B7"/>
              </a:solidFill>
              <a:latin typeface="Calibri"/>
              <a:ea typeface="Calibri"/>
              <a:cs typeface="Calibri"/>
              <a:sym typeface="Calibri"/>
            </a:endParaRPr>
          </a:p>
          <a:p>
            <a:pPr indent="-279400" lvl="1" marL="685800" rtl="0" algn="l">
              <a:lnSpc>
                <a:spcPct val="80000"/>
              </a:lnSpc>
              <a:spcBef>
                <a:spcPts val="0"/>
              </a:spcBef>
              <a:spcAft>
                <a:spcPts val="0"/>
              </a:spcAft>
              <a:buClr>
                <a:srgbClr val="B7B7B7"/>
              </a:buClr>
              <a:buSzPts val="2600"/>
              <a:buChar char="•"/>
            </a:pPr>
            <a:r>
              <a:rPr lang="es-419" sz="2600">
                <a:solidFill>
                  <a:srgbClr val="B7B7B7"/>
                </a:solidFill>
                <a:latin typeface="Calibri"/>
                <a:ea typeface="Calibri"/>
                <a:cs typeface="Calibri"/>
                <a:sym typeface="Calibri"/>
              </a:rPr>
              <a:t>OMSense</a:t>
            </a:r>
            <a:endParaRPr sz="2600">
              <a:solidFill>
                <a:srgbClr val="B7B7B7"/>
              </a:solidFill>
              <a:latin typeface="Calibri"/>
              <a:ea typeface="Calibri"/>
              <a:cs typeface="Calibri"/>
              <a:sym typeface="Calibri"/>
            </a:endParaRPr>
          </a:p>
          <a:p>
            <a:pPr indent="-279400" lvl="0" marL="228600" rtl="0" algn="l">
              <a:lnSpc>
                <a:spcPct val="80000"/>
              </a:lnSpc>
              <a:spcBef>
                <a:spcPts val="1000"/>
              </a:spcBef>
              <a:spcAft>
                <a:spcPts val="0"/>
              </a:spcAft>
              <a:buClr>
                <a:srgbClr val="000000"/>
              </a:buClr>
              <a:buSzPts val="2600"/>
              <a:buFont typeface="Noto Sans Symbols"/>
              <a:buChar char="▪"/>
            </a:pPr>
            <a:r>
              <a:rPr lang="es-419" sz="2600">
                <a:solidFill>
                  <a:srgbClr val="000000"/>
                </a:solidFill>
                <a:latin typeface="Calibri"/>
                <a:ea typeface="Calibri"/>
                <a:cs typeface="Calibri"/>
                <a:sym typeface="Calibri"/>
              </a:rPr>
              <a:t>Conclusion</a:t>
            </a:r>
            <a:r>
              <a:rPr lang="es-419" sz="2600">
                <a:latin typeface="Calibri"/>
                <a:ea typeface="Calibri"/>
                <a:cs typeface="Calibri"/>
                <a:sym typeface="Calibri"/>
              </a:rPr>
              <a:t>es y próximos pasos sugeridos</a:t>
            </a:r>
            <a:endParaRPr sz="2600">
              <a:solidFill>
                <a:srgbClr val="000000"/>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4"/>
          <p:cNvSpPr txBox="1"/>
          <p:nvPr>
            <p:ph type="title"/>
          </p:nvPr>
        </p:nvSpPr>
        <p:spPr>
          <a:xfrm>
            <a:off x="311700" y="4428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i="1" lang="es-419"/>
              <a:t>Conclusiones </a:t>
            </a:r>
            <a:endParaRPr i="1"/>
          </a:p>
        </p:txBody>
      </p:sp>
      <p:sp>
        <p:nvSpPr>
          <p:cNvPr id="288" name="Google Shape;288;p44"/>
          <p:cNvSpPr txBox="1"/>
          <p:nvPr>
            <p:ph idx="1" type="body"/>
          </p:nvPr>
        </p:nvSpPr>
        <p:spPr>
          <a:xfrm>
            <a:off x="311700" y="122072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Clr>
                <a:schemeClr val="dk1"/>
              </a:buClr>
              <a:buSzPts val="1800"/>
              <a:buChar char="●"/>
            </a:pPr>
            <a:r>
              <a:rPr lang="es-419">
                <a:solidFill>
                  <a:schemeClr val="dk1"/>
                </a:solidFill>
              </a:rPr>
              <a:t>E</a:t>
            </a:r>
            <a:r>
              <a:rPr lang="es-419">
                <a:solidFill>
                  <a:schemeClr val="dk1"/>
                </a:solidFill>
              </a:rPr>
              <a:t>l modelo puede ser extendido a </a:t>
            </a:r>
            <a:r>
              <a:rPr lang="es-419">
                <a:solidFill>
                  <a:schemeClr val="dk1"/>
                </a:solidFill>
              </a:rPr>
              <a:t>múltiples</a:t>
            </a:r>
            <a:r>
              <a:rPr lang="es-419">
                <a:solidFill>
                  <a:schemeClr val="dk1"/>
                </a:solidFill>
              </a:rPr>
              <a:t> sectores de la </a:t>
            </a:r>
            <a:r>
              <a:rPr lang="es-419">
                <a:solidFill>
                  <a:schemeClr val="dk1"/>
                </a:solidFill>
              </a:rPr>
              <a:t>economía</a:t>
            </a:r>
            <a:r>
              <a:rPr lang="es-419">
                <a:solidFill>
                  <a:schemeClr val="dk1"/>
                </a:solidFill>
              </a:rPr>
              <a:t> que se relacionan entre </a:t>
            </a:r>
            <a:r>
              <a:rPr lang="es-419">
                <a:solidFill>
                  <a:schemeClr val="dk1"/>
                </a:solidFill>
              </a:rPr>
              <a:t>sí. Al h</a:t>
            </a:r>
            <a:r>
              <a:rPr lang="es-419">
                <a:solidFill>
                  <a:schemeClr val="dk1"/>
                </a:solidFill>
              </a:rPr>
              <a:t>acerlo se puede ver el efecto de un shock </a:t>
            </a:r>
            <a:r>
              <a:rPr lang="es-419">
                <a:solidFill>
                  <a:schemeClr val="dk1"/>
                </a:solidFill>
              </a:rPr>
              <a:t>energético</a:t>
            </a:r>
            <a:r>
              <a:rPr lang="es-419">
                <a:solidFill>
                  <a:schemeClr val="dk1"/>
                </a:solidFill>
              </a:rPr>
              <a:t> en los diferentes sectores y en el salario real de cada sector.</a:t>
            </a:r>
            <a:endParaRPr>
              <a:solidFill>
                <a:schemeClr val="dk1"/>
              </a:solidFill>
            </a:endParaRPr>
          </a:p>
          <a:p>
            <a:pPr indent="-342900" lvl="0" marL="457200" rtl="0" algn="just">
              <a:spcBef>
                <a:spcPts val="0"/>
              </a:spcBef>
              <a:spcAft>
                <a:spcPts val="0"/>
              </a:spcAft>
              <a:buClr>
                <a:schemeClr val="dk1"/>
              </a:buClr>
              <a:buSzPts val="1800"/>
              <a:buChar char="●"/>
            </a:pPr>
            <a:r>
              <a:rPr lang="es-419">
                <a:solidFill>
                  <a:schemeClr val="dk1"/>
                </a:solidFill>
              </a:rPr>
              <a:t>S</a:t>
            </a:r>
            <a:r>
              <a:rPr lang="es-419">
                <a:solidFill>
                  <a:schemeClr val="dk1"/>
                </a:solidFill>
              </a:rPr>
              <a:t>e puede evaluar el efecto de un shock salarial en uno o más sectores y ver cómo afecta al resto de los sectores y a la economía en general</a:t>
            </a:r>
            <a:endParaRPr>
              <a:solidFill>
                <a:schemeClr val="dk1"/>
              </a:solidFill>
            </a:endParaRPr>
          </a:p>
          <a:p>
            <a:pPr indent="-342900" lvl="0" marL="457200" rtl="0" algn="just">
              <a:spcBef>
                <a:spcPts val="0"/>
              </a:spcBef>
              <a:spcAft>
                <a:spcPts val="0"/>
              </a:spcAft>
              <a:buClr>
                <a:schemeClr val="dk1"/>
              </a:buClr>
              <a:buSzPts val="1800"/>
              <a:buChar char="●"/>
            </a:pPr>
            <a:r>
              <a:rPr lang="es-419">
                <a:solidFill>
                  <a:schemeClr val="dk1"/>
                </a:solidFill>
              </a:rPr>
              <a:t>En cuanto al análisis que hicimos con OMSens, podemos decir que los shocks permanentes convergen en steady states inflacionarios más altos. Y que las economías más intensivas en energía sufren mayor impacto inflacionario mayor ante un shock energético.</a:t>
            </a:r>
            <a:endParaRPr>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nvSpPr>
        <p:spPr>
          <a:xfrm>
            <a:off x="146050" y="367150"/>
            <a:ext cx="8841600" cy="58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s-419" sz="2500">
                <a:solidFill>
                  <a:schemeClr val="dk1"/>
                </a:solidFill>
              </a:rPr>
              <a:t>Próximos</a:t>
            </a:r>
            <a:r>
              <a:rPr i="1" lang="es-419" sz="2500">
                <a:solidFill>
                  <a:schemeClr val="dk1"/>
                </a:solidFill>
              </a:rPr>
              <a:t> pasos</a:t>
            </a:r>
            <a:endParaRPr i="1" sz="2500">
              <a:solidFill>
                <a:schemeClr val="dk1"/>
              </a:solidFill>
            </a:endParaRPr>
          </a:p>
        </p:txBody>
      </p:sp>
      <p:sp>
        <p:nvSpPr>
          <p:cNvPr id="294" name="Google Shape;294;p45"/>
          <p:cNvSpPr txBox="1"/>
          <p:nvPr/>
        </p:nvSpPr>
        <p:spPr>
          <a:xfrm>
            <a:off x="67750" y="1340275"/>
            <a:ext cx="8998200" cy="43134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2000">
              <a:solidFill>
                <a:schemeClr val="dk1"/>
              </a:solidFill>
            </a:endParaRPr>
          </a:p>
          <a:p>
            <a:pPr indent="-355600" lvl="0" marL="457200" rtl="0" algn="l">
              <a:spcBef>
                <a:spcPts val="0"/>
              </a:spcBef>
              <a:spcAft>
                <a:spcPts val="0"/>
              </a:spcAft>
              <a:buClr>
                <a:schemeClr val="dk1"/>
              </a:buClr>
              <a:buSzPts val="2000"/>
              <a:buChar char="●"/>
            </a:pPr>
            <a:r>
              <a:rPr lang="es-419" sz="2000">
                <a:solidFill>
                  <a:schemeClr val="dk1"/>
                </a:solidFill>
              </a:rPr>
              <a:t>Agregar </a:t>
            </a:r>
            <a:r>
              <a:rPr lang="es-419" sz="2000">
                <a:solidFill>
                  <a:schemeClr val="dk1"/>
                </a:solidFill>
              </a:rPr>
              <a:t>más</a:t>
            </a:r>
            <a:r>
              <a:rPr lang="es-419" sz="2000">
                <a:solidFill>
                  <a:schemeClr val="dk1"/>
                </a:solidFill>
              </a:rPr>
              <a:t> sectores y evaluar </a:t>
            </a:r>
            <a:r>
              <a:rPr lang="es-419" sz="2000">
                <a:solidFill>
                  <a:schemeClr val="dk1"/>
                </a:solidFill>
              </a:rPr>
              <a:t>cómo</a:t>
            </a:r>
            <a:r>
              <a:rPr lang="es-419" sz="2000">
                <a:solidFill>
                  <a:schemeClr val="dk1"/>
                </a:solidFill>
              </a:rPr>
              <a:t> funciona el modelo y qué resultados da.</a:t>
            </a:r>
            <a:endParaRPr sz="2000">
              <a:solidFill>
                <a:schemeClr val="dk1"/>
              </a:solidFill>
            </a:endParaRPr>
          </a:p>
          <a:p>
            <a:pPr indent="-355600" lvl="0" marL="457200" rtl="0" algn="just">
              <a:lnSpc>
                <a:spcPct val="115000"/>
              </a:lnSpc>
              <a:spcBef>
                <a:spcPts val="0"/>
              </a:spcBef>
              <a:spcAft>
                <a:spcPts val="0"/>
              </a:spcAft>
              <a:buClr>
                <a:schemeClr val="dk1"/>
              </a:buClr>
              <a:buSzPts val="2000"/>
              <a:buChar char="●"/>
            </a:pPr>
            <a:r>
              <a:rPr lang="es-419" sz="2000">
                <a:solidFill>
                  <a:schemeClr val="dk1"/>
                </a:solidFill>
              </a:rPr>
              <a:t>En cuanto al análisis de OMSens, </a:t>
            </a:r>
            <a:r>
              <a:rPr lang="es-419" sz="2000">
                <a:solidFill>
                  <a:schemeClr val="dk1"/>
                </a:solidFill>
              </a:rPr>
              <a:t>nos parece interesante poder comparar las simulaciones con datos de casos reales. </a:t>
            </a:r>
            <a:endParaRPr sz="2000">
              <a:solidFill>
                <a:schemeClr val="dk1"/>
              </a:solidFill>
            </a:endParaRPr>
          </a:p>
          <a:p>
            <a:pPr indent="0" lvl="0" marL="457200" rtl="0" algn="l">
              <a:spcBef>
                <a:spcPts val="1200"/>
              </a:spcBef>
              <a:spcAft>
                <a:spcPts val="0"/>
              </a:spcAft>
              <a:buNone/>
            </a:pPr>
            <a:r>
              <a:t/>
            </a:r>
            <a:endParaRPr sz="25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